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62" r:id="rId5"/>
    <p:sldId id="258" r:id="rId6"/>
    <p:sldId id="263" r:id="rId7"/>
    <p:sldId id="265" r:id="rId8"/>
    <p:sldId id="266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78E178-C6D4-B981-5414-3C9B604E2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3" y="108155"/>
            <a:ext cx="12128137" cy="66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11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Comparison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Restaurant Data Engineering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project combines batch processing, streaming, database storage, API access, and business intelligence.</a:t>
            </a:r>
          </a:p>
          <a:p>
            <a:pPr>
              <a:spcAft>
                <a:spcPts val="1200"/>
              </a:spcAft>
              <a:defRPr sz="2100"/>
            </a:pPr>
            <a:r>
              <a:t>The comparison focuses on how the proposed pipeline differs from a manual/traditional workflow.</a:t>
            </a:r>
          </a:p>
          <a:p>
            <a:pPr>
              <a:spcAft>
                <a:spcPts val="1200"/>
              </a:spcAft>
              <a:defRPr sz="2100"/>
            </a:pPr>
            <a:r>
              <a:t>The charts use the same side-by-side bar style as the reference image.</a:t>
            </a:r>
          </a:p>
          <a:p>
            <a:pPr>
              <a:spcAft>
                <a:spcPts val="1200"/>
              </a:spcAft>
              <a:defRPr sz="2100"/>
            </a:pPr>
            <a:r>
              <a:t>Project execution results are discussed separately from capability comparisons.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Comparison: Traditional Approach vs Proposed Pipeline</a:t>
            </a:r>
          </a:p>
        </p:txBody>
      </p:sp>
      <p:pic>
        <p:nvPicPr>
          <p:cNvPr id="3" name="Picture 2" descr="comparison_data_hand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55680" cy="5246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069609-D39F-C588-AD9C-6856B33E58B0}"/>
              </a:ext>
            </a:extLst>
          </p:cNvPr>
          <p:cNvSpPr txBox="1"/>
          <p:nvPr/>
        </p:nvSpPr>
        <p:spPr>
          <a:xfrm>
            <a:off x="1012723" y="2477728"/>
            <a:ext cx="126752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1300"/>
            </a:pPr>
            <a:r>
              <a:rPr sz="2000" dirty="0"/>
              <a:t>Traditional workflow mainly depends on manual preparation and individual analysis.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1300"/>
            </a:pPr>
            <a:r>
              <a:rPr sz="2000" dirty="0"/>
              <a:t>The proposed pipeline connects Python, PostgreSQL, Kafka, Spark, </a:t>
            </a:r>
            <a:r>
              <a:rPr sz="2000" dirty="0" err="1"/>
              <a:t>FastAPI</a:t>
            </a:r>
            <a:r>
              <a:rPr sz="2000" dirty="0"/>
              <a:t>, and Power BI.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1300"/>
            </a:pPr>
            <a:r>
              <a:rPr sz="2000" dirty="0"/>
              <a:t>The comparison is about available pipeline capabilities, not a measured speed benchmark.</a:t>
            </a:r>
          </a:p>
        </p:txBody>
      </p:sp>
    </p:spTree>
    <p:extLst>
      <p:ext uri="{BB962C8B-B14F-4D97-AF65-F5344CB8AC3E}">
        <p14:creationId xmlns:p14="http://schemas.microsoft.com/office/powerpoint/2010/main" val="327528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Comparison: Automation and Analytics</a:t>
            </a:r>
          </a:p>
        </p:txBody>
      </p:sp>
      <p:pic>
        <p:nvPicPr>
          <p:cNvPr id="3" name="Picture 2" descr="comparison_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55680" cy="52463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95CA1E-F819-88D8-6185-6D65016351F1}"/>
              </a:ext>
            </a:extLst>
          </p:cNvPr>
          <p:cNvSpPr txBox="1"/>
          <p:nvPr/>
        </p:nvSpPr>
        <p:spPr>
          <a:xfrm>
            <a:off x="980768" y="1787996"/>
            <a:ext cx="107899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/>
            </a:pPr>
            <a:r>
              <a:rPr sz="2000" dirty="0"/>
              <a:t>The proposed architecture supports reusable KPI tables and an API layer for downstream applications.</a:t>
            </a:r>
          </a:p>
          <a:p>
            <a:pPr>
              <a:spcAft>
                <a:spcPts val="1200"/>
              </a:spcAft>
              <a:defRPr sz="1300"/>
            </a:pPr>
            <a:r>
              <a:rPr sz="2000" dirty="0"/>
              <a:t>Kafka provides a streaming path while Spark performs transformation and aggregation.</a:t>
            </a:r>
          </a:p>
          <a:p>
            <a:pPr>
              <a:spcAft>
                <a:spcPts val="1200"/>
              </a:spcAft>
              <a:defRPr sz="1300"/>
            </a:pPr>
            <a:r>
              <a:rPr sz="2000" dirty="0"/>
              <a:t>Power BI provides interactive business-level reporting.</a:t>
            </a:r>
          </a:p>
        </p:txBody>
      </p:sp>
    </p:spTree>
    <p:extLst>
      <p:ext uri="{BB962C8B-B14F-4D97-AF65-F5344CB8AC3E}">
        <p14:creationId xmlns:p14="http://schemas.microsoft.com/office/powerpoint/2010/main" val="295931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DF9480-413F-7F2D-3244-00A26C8ED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01" y="629265"/>
            <a:ext cx="11373627" cy="574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40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DC5A4-FAB6-18B9-9A07-80E07869A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10" y="372570"/>
            <a:ext cx="11366089" cy="623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Discussion: Actual Project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generated dataset contains 5,000 orders and 15,117 order items.</a:t>
            </a:r>
          </a:p>
          <a:p>
            <a:pPr>
              <a:spcAft>
                <a:spcPts val="1200"/>
              </a:spcAft>
              <a:defRPr sz="2000"/>
            </a:pPr>
            <a:r>
              <a:t>PostgreSQL stores the cleaned source data and the Spark-generated analytics tables.</a:t>
            </a:r>
          </a:p>
          <a:p>
            <a:pPr>
              <a:spcAft>
                <a:spcPts val="1200"/>
              </a:spcAft>
              <a:defRPr sz="2000"/>
            </a:pPr>
            <a:r>
              <a:t>FastAPI endpoints returned successful responses for top dishes, peak hours, and preparation performance.</a:t>
            </a:r>
          </a:p>
          <a:p>
            <a:pPr>
              <a:spcAft>
                <a:spcPts val="1200"/>
              </a:spcAft>
              <a:defRPr sz="2000"/>
            </a:pPr>
            <a:r>
              <a:t>Power BI displays KPI cards, daily revenue trends, top dishes, peak-hour orders, cancellations, and preparation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Discussion: End-to-End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3444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Generate and clean restaurant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8424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8424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8424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Store structured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34056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34056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Send restaurant events through a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83863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83863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Apache Spark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83863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Read, transform, aggregate, and write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336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3367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33672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Expose analytics through REST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834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98348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Create interactive business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270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 charan reddy</cp:lastModifiedBy>
  <cp:revision>3</cp:revision>
  <dcterms:created xsi:type="dcterms:W3CDTF">2013-01-27T09:14:16Z</dcterms:created>
  <dcterms:modified xsi:type="dcterms:W3CDTF">2026-10-17T07:53:38Z</dcterms:modified>
  <cp:category/>
</cp:coreProperties>
</file>
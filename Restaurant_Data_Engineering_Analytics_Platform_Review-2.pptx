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904" r:id="rId2"/>
    <p:sldId id="903" r:id="rId3"/>
    <p:sldId id="909" r:id="rId4"/>
    <p:sldId id="902" r:id="rId5"/>
    <p:sldId id="906" r:id="rId6"/>
    <p:sldId id="258" r:id="rId7"/>
    <p:sldId id="908" r:id="rId8"/>
    <p:sldId id="90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94A944-D8C3-45FD-928F-909399D66FCB}" v="2" dt="2026-08-26T03:31:35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E41A7-996A-81BA-0930-AB611321DAC5}"/>
              </a:ext>
            </a:extLst>
          </p:cNvPr>
          <p:cNvSpPr txBox="1"/>
          <p:nvPr/>
        </p:nvSpPr>
        <p:spPr>
          <a:xfrm>
            <a:off x="211858" y="1637154"/>
            <a:ext cx="1176828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lang="en-IN" sz="4200" b="1" dirty="0">
                <a:solidFill>
                  <a:srgbClr val="FFFFFF"/>
                </a:solidFill>
              </a:rPr>
              <a:t>Restaurant Data Engineering Analytics Platform</a:t>
            </a:r>
            <a:endParaRPr sz="2700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46941-D498-C993-2978-B95316EBC85F}"/>
              </a:ext>
            </a:extLst>
          </p:cNvPr>
          <p:cNvSpPr txBox="1"/>
          <p:nvPr/>
        </p:nvSpPr>
        <p:spPr>
          <a:xfrm>
            <a:off x="4748929" y="2971800"/>
            <a:ext cx="2663678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sz="1700" b="0" dirty="0"/>
              <a:t>TEAM MEMBERS:</a:t>
            </a:r>
            <a:br>
              <a:rPr dirty="0"/>
            </a:br>
            <a:r>
              <a:rPr lang="en-US" sz="1700" dirty="0"/>
              <a:t>G.Santhosh</a:t>
            </a:r>
            <a:r>
              <a:rPr sz="1700" b="0" dirty="0"/>
              <a:t>-242003012</a:t>
            </a:r>
            <a:r>
              <a:rPr lang="en-US" sz="1700" b="0" dirty="0"/>
              <a:t>3</a:t>
            </a:r>
            <a:br>
              <a:rPr dirty="0"/>
            </a:br>
            <a:r>
              <a:rPr lang="en-US" sz="1700" dirty="0" err="1"/>
              <a:t>S.Sri</a:t>
            </a:r>
            <a:r>
              <a:rPr lang="en-US" sz="1700" dirty="0"/>
              <a:t> Charan</a:t>
            </a:r>
            <a:r>
              <a:rPr sz="1700" b="0" dirty="0"/>
              <a:t>-24200301</a:t>
            </a:r>
            <a:r>
              <a:rPr lang="en-US" sz="1700" b="0" dirty="0"/>
              <a:t>27</a:t>
            </a:r>
            <a:br>
              <a:rPr dirty="0"/>
            </a:br>
            <a:r>
              <a:rPr lang="en-US" sz="1700" dirty="0" err="1"/>
              <a:t>K.Sri</a:t>
            </a:r>
            <a:r>
              <a:rPr lang="en-US" sz="1700" dirty="0"/>
              <a:t> Charan</a:t>
            </a:r>
            <a:r>
              <a:rPr sz="1700" b="0" dirty="0"/>
              <a:t>-24200</a:t>
            </a:r>
            <a:r>
              <a:rPr lang="en-US" sz="1700" b="0" dirty="0"/>
              <a:t>9</a:t>
            </a:r>
            <a:r>
              <a:rPr sz="1700" b="0" dirty="0"/>
              <a:t>0</a:t>
            </a:r>
            <a:r>
              <a:rPr lang="en-US" sz="1700" b="0" dirty="0"/>
              <a:t>144</a:t>
            </a:r>
            <a:endParaRPr sz="17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DB67C-F582-2575-D6E5-5AB91918D13A}"/>
              </a:ext>
            </a:extLst>
          </p:cNvPr>
          <p:cNvSpPr txBox="1"/>
          <p:nvPr/>
        </p:nvSpPr>
        <p:spPr>
          <a:xfrm>
            <a:off x="1696403" y="697107"/>
            <a:ext cx="87992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2E1F0"/>
                </a:solidFill>
              </a:defRPr>
            </a:pPr>
            <a:r>
              <a:rPr sz="1600" b="0"/>
              <a:t>Fundamentals of Data Engineering (24DEA3101)</a:t>
            </a:r>
            <a:endParaRPr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10D157-FF6C-C235-D141-365298269901}"/>
              </a:ext>
            </a:extLst>
          </p:cNvPr>
          <p:cNvSpPr txBox="1"/>
          <p:nvPr/>
        </p:nvSpPr>
        <p:spPr>
          <a:xfrm>
            <a:off x="3460956" y="4994787"/>
            <a:ext cx="3065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457278A-94C4-4495-13E8-FCC644110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798" y="4628468"/>
            <a:ext cx="438518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1823463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400" b="0" dirty="0"/>
              <a:t>Group Number:</a:t>
            </a:r>
            <a:r>
              <a:rPr lang="en-US" sz="1400" dirty="0"/>
              <a:t>22</a:t>
            </a:r>
            <a:r>
              <a:rPr sz="1400" b="0" dirty="0"/>
              <a:t>                                    Section: 7</a:t>
            </a:r>
            <a:br>
              <a:rPr dirty="0"/>
            </a:br>
            <a:r>
              <a:rPr sz="1400" b="0" dirty="0"/>
              <a:t>Under the guidance of</a:t>
            </a:r>
            <a:br>
              <a:rPr dirty="0"/>
            </a:br>
            <a:r>
              <a:rPr lang="en-IN" sz="1400" dirty="0"/>
              <a:t>Associate Professor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400" b="0" dirty="0"/>
              <a:t>Dr. N. Shirisha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6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Objective</a:t>
            </a:r>
          </a:p>
        </p:txBody>
      </p:sp>
      <p:sp>
        <p:nvSpPr>
          <p:cNvPr id="7" name="Objective Body"/>
          <p:cNvSpPr txBox="1"/>
          <p:nvPr/>
        </p:nvSpPr>
        <p:spPr>
          <a:xfrm>
            <a:off x="800100" y="1300000"/>
            <a:ext cx="10591800" cy="52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 overcome delayed restaurant reporting</a:t>
            </a:r>
            <a:r>
              <a:rPr lang="en-IN" sz="2000" dirty="0"/>
              <a:t> by moving from traditional batch-based analysis toward </a:t>
            </a:r>
            <a:r>
              <a:rPr lang="en-IN" sz="2000" b="1" dirty="0"/>
              <a:t>real-time data processing using Apache Kafka and Apache Spark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 overcome scattered restaurant data</a:t>
            </a:r>
            <a:r>
              <a:rPr lang="en-IN" sz="2000" dirty="0"/>
              <a:t> by integrating orders, menu, customer, payment, reservation, and delivery data into a </a:t>
            </a:r>
            <a:r>
              <a:rPr lang="en-IN" sz="2000" b="1" dirty="0"/>
              <a:t>centralized PostgreSQL database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 overcome manual data processing</a:t>
            </a:r>
            <a:r>
              <a:rPr lang="en-IN" sz="2000" dirty="0"/>
              <a:t> by developing an </a:t>
            </a:r>
            <a:r>
              <a:rPr lang="en-IN" sz="2000" b="1" dirty="0"/>
              <a:t>automated ETL pipeline</a:t>
            </a:r>
            <a:r>
              <a:rPr lang="en-IN" sz="2000" dirty="0"/>
              <a:t> using Python, Pandas, Spark, and Apache Airflow.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 overcome limited and isolated analysis</a:t>
            </a:r>
            <a:r>
              <a:rPr lang="en-IN" sz="2000" dirty="0"/>
              <a:t> by combining multiple restaurant data sources to generate insights about </a:t>
            </a:r>
            <a:r>
              <a:rPr lang="en-IN" sz="2000" b="1" dirty="0"/>
              <a:t>sales, popular dishes, peak hours, customer </a:t>
            </a:r>
            <a:r>
              <a:rPr lang="en-IN" sz="2000" b="1" dirty="0" err="1"/>
              <a:t>behavior</a:t>
            </a:r>
            <a:r>
              <a:rPr lang="en-IN" sz="2000" b="1" dirty="0"/>
              <a:t>, and operational performance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 overcome delayed decision-making</a:t>
            </a:r>
            <a:r>
              <a:rPr lang="en-IN" sz="2000" dirty="0"/>
              <a:t> by providing </a:t>
            </a:r>
            <a:r>
              <a:rPr lang="en-IN" sz="2000" b="1" dirty="0"/>
              <a:t>interactive Power BI dashboards</a:t>
            </a:r>
            <a:r>
              <a:rPr lang="en-IN" sz="2000" dirty="0"/>
              <a:t> with regularly updated restaurant KPIs.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To provide a scalable data engineering solution</a:t>
            </a:r>
            <a:r>
              <a:rPr lang="en-IN" sz="2000" dirty="0"/>
              <a:t> that can handle increasing volumes of restaurant data using </a:t>
            </a:r>
            <a:r>
              <a:rPr lang="en-IN" sz="2000" b="1" dirty="0"/>
              <a:t>Kafka for streaming and Spark for distributed processing</a:t>
            </a:r>
            <a:r>
              <a:rPr lang="en-IN" sz="20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D1B05AA-5880-B957-96AE-B5262D3C3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4320"/>
            <a:ext cx="12027876" cy="33324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316D73-6233-48C7-8600-876C44E9AA23}"/>
              </a:ext>
            </a:extLst>
          </p:cNvPr>
          <p:cNvSpPr txBox="1"/>
          <p:nvPr/>
        </p:nvSpPr>
        <p:spPr>
          <a:xfrm>
            <a:off x="518160" y="873760"/>
            <a:ext cx="222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647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9309967"/>
              </p:ext>
            </p:extLst>
          </p:nvPr>
        </p:nvGraphicFramePr>
        <p:xfrm>
          <a:off x="274646" y="689466"/>
          <a:ext cx="11642705" cy="565037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46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Lasek, Cercone &amp; Saunders [1]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Restaurant Sales and Customer Demand Forecasting: Literature Survey and Categorization of Methods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Sales forecasting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Demand forecasting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Statistical methods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Machine learning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Forecasting helps restaurants understand customer demand.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Historical restaurant data can support better operational decisions.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Existing methods mainly focus on forecasting.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Limited integration of real-time data engineering pipelines.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rgbClr val="FF0000"/>
                          </a:solidFill>
                        </a:rPr>
                        <a:t>Schmidt, Ul Kabir &amp; Hoque [2]</a:t>
                      </a:r>
                      <a:endParaRPr lang="en-IN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Machine Learning Based Restaurant Sales Forecasting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Machine Learning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Time-series forecasting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Feature engineering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RNN, LSTM and TFT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ML can improve restaurant sales forecasting.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Historical trends and seasonality are useful for predicting future sales.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Performance depends on available historical data.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Focus is mainly on prediction rather than complete data pipeline management.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000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Chae, Sheu &amp; Park [3]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The Value of Data, Machine Learning, and Deep Learning in Restaurant Demand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Internal restaurant data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External data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Machine Learning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Deep Learning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Combining different data sources improves demand forecasting.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Advanced analytics can support restaurant operational decisions.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Focuses mainly on demand forecasting.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Opportunity exists for real-time ingestion, scalable processing, and centralized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300" b="0"/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1792999"/>
              </p:ext>
            </p:extLst>
          </p:nvPr>
        </p:nvGraphicFramePr>
        <p:xfrm>
          <a:off x="274646" y="689466"/>
          <a:ext cx="11642705" cy="5561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972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Posch, Truden, 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</a:rPr>
                        <a:t>Hungerländer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 &amp; Pilz [4]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A Bayesian Approach for Predicting Food and Beverage Sales in Staff Canteens and Restaurants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Bayesian forecasting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Point-of-sale data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Time-series analysis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Machine Learning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Accurate demand forecasting helps restaurants plan food inventory.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ML-based forecasting can reduce food waste and unmet demand.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Mainly focuses on demand prediction rather than an end-to-end data engineering platform.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Future work can integrate real-time data and additional operational factors</a:t>
                      </a:r>
                      <a:r>
                        <a:rPr lang="en-IN" sz="1400" dirty="0"/>
                        <a:t>.</a:t>
                      </a:r>
                      <a:endParaRPr sz="1400" b="0" dirty="0">
                        <a:solidFill>
                          <a:srgbClr val="B4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"/>
                  </a:ext>
                </a:extLst>
              </a:tr>
              <a:tr h="170000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Kim [5]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Development of an AI-based Restaurant Menu Demand Prediction Model Utilizing Sales and Meteorological Data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Historical sales data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Weather/meteorological data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Deep Neural Networks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Menu-level prediction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Combining sales and weather data can support menu-specific demand prediction.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AI-based forecasting can improve inventory management and reduce food waste.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Focuses mainly on prediction rather than real-time data processing.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Future work can incorporate additional real-time restaurant and external data sources.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"/>
                  </a:ext>
                </a:extLst>
              </a:tr>
              <a:tr h="1700000"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Choi et al. [6]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Big Social Data and Customer Decision Making in Vegetarian Restaurants: A Combined Machine Learning Method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Social media/review data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Text mining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LDA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Cluster analysis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Classification and Regression Trees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Customer-generated reviews can provide valuable information about restaurant service quality.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Machine learning can identify customer segments and preferences.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Focuses mainly on online reviews and customer preferences.</a:t>
                      </a:r>
                      <a:br>
                        <a:rPr lang="en-IN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• Does not provide a complete restaurant operational data pipeline.</a:t>
                      </a:r>
                      <a:endParaRPr sz="1400" b="0" dirty="0">
                        <a:solidFill>
                          <a:srgbClr val="FF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2996000" y="136525"/>
            <a:ext cx="62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300" b="0"/>
              <a:t>Literature Survey (contd.)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Research Gap</a:t>
            </a:r>
            <a:endParaRPr lang="en-IN" sz="2800" b="1" dirty="0"/>
          </a:p>
        </p:txBody>
      </p:sp>
      <p:sp>
        <p:nvSpPr>
          <p:cNvPr id="7" name="Proposed Method Body"/>
          <p:cNvSpPr txBox="1"/>
          <p:nvPr/>
        </p:nvSpPr>
        <p:spPr>
          <a:xfrm>
            <a:off x="1005267" y="2082800"/>
            <a:ext cx="10591800" cy="38534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N" sz="2000" dirty="0"/>
              <a:t>Existing studies mainly concentrate on </a:t>
            </a:r>
            <a:r>
              <a:rPr lang="en-IN" sz="2000" b="1" dirty="0"/>
              <a:t>restaurant sales and demand forecasting</a:t>
            </a:r>
            <a:r>
              <a:rPr lang="en-IN" sz="2000" dirty="0"/>
              <a:t>. However, they do not provide a complete end-to-end platform combining </a:t>
            </a:r>
            <a:r>
              <a:rPr lang="en-IN" sz="2000" b="1" dirty="0"/>
              <a:t>real-time data ingestion, automated ETL, scalable processing, centralized storage, and visualization</a:t>
            </a:r>
            <a:r>
              <a:rPr lang="en-IN" sz="2000" dirty="0"/>
              <a:t>.</a:t>
            </a:r>
          </a:p>
          <a:p>
            <a:r>
              <a:rPr lang="en-IN" sz="2000" b="1" dirty="0"/>
              <a:t>Our Proposed Solution</a:t>
            </a:r>
          </a:p>
          <a:p>
            <a:r>
              <a:rPr lang="en-IN" sz="2000" dirty="0"/>
              <a:t>Our project overcomes these limitations by integrating:</a:t>
            </a:r>
          </a:p>
          <a:p>
            <a:r>
              <a:rPr lang="en-IN" sz="2000" b="1" dirty="0"/>
              <a:t>Python/Pandas → Kafka → Apache Spark → PostgreSQL → Airflow → Power BI</a:t>
            </a:r>
            <a:endParaRPr lang="en-IN" sz="2000" dirty="0"/>
          </a:p>
          <a:p>
            <a:r>
              <a:rPr lang="en-IN" sz="2000" dirty="0"/>
              <a:t>This makes the proposed system different from traditional restaurant analytics approaches by providing </a:t>
            </a:r>
            <a:r>
              <a:rPr lang="en-IN" sz="2000" b="1" dirty="0"/>
              <a:t>automated, scalable, and real-time-capable data engineering with business intelligence</a:t>
            </a:r>
            <a:r>
              <a:rPr lang="en-IN" sz="2000" dirty="0"/>
              <a:t>.</a:t>
            </a:r>
          </a:p>
          <a:p>
            <a:pPr marL="285750" indent="-285750" algn="l">
              <a:lnSpc>
                <a:spcPct val="100000"/>
              </a:lnSpc>
              <a:spcAft>
                <a:spcPts val="1400"/>
              </a:spcAft>
              <a:buFont typeface="Arial" pitchFamily="34" charset="0"/>
              <a:buChar char="•"/>
            </a:pPr>
            <a:endParaRPr sz="125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E9B35-6EC7-E8DA-E273-DE65BD9137E4}"/>
              </a:ext>
            </a:extLst>
          </p:cNvPr>
          <p:cNvSpPr txBox="1"/>
          <p:nvPr/>
        </p:nvSpPr>
        <p:spPr>
          <a:xfrm>
            <a:off x="4450080" y="721360"/>
            <a:ext cx="3065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Proposed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578DF-FD71-F377-206C-7CA6B3391754}"/>
              </a:ext>
            </a:extLst>
          </p:cNvPr>
          <p:cNvSpPr txBox="1"/>
          <p:nvPr/>
        </p:nvSpPr>
        <p:spPr>
          <a:xfrm>
            <a:off x="360680" y="1574800"/>
            <a:ext cx="114706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Collection</a:t>
            </a:r>
            <a:br>
              <a:rPr lang="en-IN" dirty="0"/>
            </a:br>
            <a:r>
              <a:rPr lang="en-IN" dirty="0"/>
              <a:t>Collect restaurant orders, menu details, customer information, payments, reservations, and delivery records.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Extraction</a:t>
            </a:r>
            <a:br>
              <a:rPr lang="en-IN" dirty="0"/>
            </a:br>
            <a:r>
              <a:rPr lang="en-IN" dirty="0"/>
              <a:t>Extract data from CSV files, databases, APIs, and real-time order sources.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Ingestion</a:t>
            </a:r>
            <a:br>
              <a:rPr lang="en-IN" dirty="0"/>
            </a:br>
            <a:r>
              <a:rPr lang="en-IN" dirty="0"/>
              <a:t>Use </a:t>
            </a:r>
            <a:r>
              <a:rPr lang="en-IN" b="1" dirty="0"/>
              <a:t>Python</a:t>
            </a:r>
            <a:r>
              <a:rPr lang="en-IN" dirty="0"/>
              <a:t> for initial data collection and </a:t>
            </a:r>
            <a:r>
              <a:rPr lang="en-IN" b="1" dirty="0"/>
              <a:t>Apache Kafka</a:t>
            </a:r>
            <a:r>
              <a:rPr lang="en-IN" dirty="0"/>
              <a:t> for continuously streaming real-time restaurant events.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Cleaning</a:t>
            </a:r>
            <a:br>
              <a:rPr lang="en-IN" dirty="0"/>
            </a:br>
            <a:r>
              <a:rPr lang="en-IN" dirty="0"/>
              <a:t>Remove duplicate orders, handle missing values, correct inconsistent formats, and validate restaurant records.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Preprocessing</a:t>
            </a:r>
            <a:br>
              <a:rPr lang="en-IN" dirty="0"/>
            </a:br>
            <a:r>
              <a:rPr lang="en-IN" dirty="0"/>
              <a:t>Convert raw data into a standardized format suitable for large-scale processing and analysis.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Transformation</a:t>
            </a:r>
            <a:br>
              <a:rPr lang="en-IN" dirty="0"/>
            </a:br>
            <a:r>
              <a:rPr lang="en-IN" dirty="0"/>
              <a:t>Use </a:t>
            </a:r>
            <a:r>
              <a:rPr lang="en-IN" b="1" dirty="0"/>
              <a:t>Apache Spark</a:t>
            </a:r>
            <a:r>
              <a:rPr lang="en-IN" dirty="0"/>
              <a:t> to perform transformations, aggregations, filtering, and calculations on restaurant data.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Data Storage</a:t>
            </a:r>
            <a:br>
              <a:rPr lang="en-IN" dirty="0"/>
            </a:br>
            <a:r>
              <a:rPr lang="en-IN" dirty="0"/>
              <a:t>Store the processed and structured data in </a:t>
            </a:r>
            <a:r>
              <a:rPr lang="en-IN" b="1" dirty="0"/>
              <a:t>PostgreSQL</a:t>
            </a:r>
            <a:r>
              <a:rPr lang="en-IN" dirty="0"/>
              <a:t> for reliable and centralized access.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9692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References</a:t>
            </a:r>
          </a:p>
        </p:txBody>
      </p:sp>
      <p:sp>
        <p:nvSpPr>
          <p:cNvPr id="7" name="Proposed Method Body"/>
          <p:cNvSpPr txBox="1"/>
          <p:nvPr/>
        </p:nvSpPr>
        <p:spPr>
          <a:xfrm>
            <a:off x="800100" y="2265680"/>
            <a:ext cx="10591800" cy="423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Lasek, A., Cercone, N., &amp; Saunders, J. (2016). </a:t>
            </a:r>
            <a:r>
              <a:rPr lang="en-IN" sz="1600" b="1" dirty="0"/>
              <a:t>Restaurant Sales and Customer Demand Forecasting: Literature Survey and Categorization of Methods.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Schmidt, A., Ul Kabir, M. W., &amp; Hoque, M. T. (2022). </a:t>
            </a:r>
            <a:r>
              <a:rPr lang="en-IN" sz="1600" b="1" dirty="0"/>
              <a:t>Machine Learning Based Restaurant Sales Forecasting.</a:t>
            </a:r>
            <a:r>
              <a:rPr lang="en-IN" sz="1600" dirty="0"/>
              <a:t> </a:t>
            </a:r>
            <a:r>
              <a:rPr lang="en-IN" sz="1600" i="1" dirty="0"/>
              <a:t>Machine Learning and Knowledge Extraction, 4</a:t>
            </a:r>
            <a:r>
              <a:rPr lang="en-IN" sz="1600" dirty="0"/>
              <a:t>(1), 105–130.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Chae, B. K., Sheu, C., &amp; Park, E. O. (2024). </a:t>
            </a:r>
            <a:r>
              <a:rPr lang="en-IN" sz="1600" b="1" dirty="0"/>
              <a:t>The Value of Data, Machine Learning, and Deep Learning in Restaurant Demand Forecasting: Insights and Lessons Learned from a Large Restaurant Chain.</a:t>
            </a:r>
            <a:r>
              <a:rPr lang="en-IN" sz="1600" dirty="0"/>
              <a:t> </a:t>
            </a:r>
            <a:r>
              <a:rPr lang="en-IN" sz="1600" i="1" dirty="0"/>
              <a:t>Decision Support Systems, 184</a:t>
            </a:r>
            <a:r>
              <a:rPr lang="en-IN" sz="1600" dirty="0"/>
              <a:t>, 114291.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1077</Words>
  <Application>Microsoft Office PowerPoint</Application>
  <PresentationFormat>Widescreen</PresentationFormat>
  <Paragraphs>76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 charan reddy</cp:lastModifiedBy>
  <cp:revision>40</cp:revision>
  <dcterms:created xsi:type="dcterms:W3CDTF">2026-08-08T06:33:56Z</dcterms:created>
  <dcterms:modified xsi:type="dcterms:W3CDTF">2026-09-17T17:19:16Z</dcterms:modified>
</cp:coreProperties>
</file>
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61" r:id="rId5"/>
    <p:sldId id="262" r:id="rId6"/>
    <p:sldId id="263" r:id="rId7"/>
    <p:sldId id="265"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A575A1-8C56-4705-8C76-94660F136B42}" v="11" dt="2026-08-25T17:58:47.9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6009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822960" y="1554480"/>
            <a:ext cx="7315200" cy="365760"/>
          </a:xfrm>
          <a:prstGeom prst="rect">
            <a:avLst/>
          </a:prstGeom>
          <a:noFill/>
          <a:ln/>
        </p:spPr>
        <p:txBody>
          <a:bodyPr wrap="square" lIns="0" tIns="0" rIns="0" bIns="0" rtlCol="0" anchor="ctr"/>
          <a:lstStyle/>
          <a:p>
            <a:r>
              <a:rPr lang="en-IN" sz="1400" dirty="0">
                <a:solidFill>
                  <a:schemeClr val="bg1">
                    <a:lumMod val="95000"/>
                  </a:schemeClr>
                </a:solidFill>
              </a:rPr>
              <a:t>FUNDAMENTALS OF DATA ENGINEERING(24DEA3101)</a:t>
            </a:r>
            <a:endParaRPr lang="en-US" sz="1300" dirty="0">
              <a:solidFill>
                <a:schemeClr val="bg1">
                  <a:lumMod val="95000"/>
                </a:schemeClr>
              </a:solidFill>
            </a:endParaRPr>
          </a:p>
        </p:txBody>
      </p:sp>
      <p:sp>
        <p:nvSpPr>
          <p:cNvPr id="3" name="Text 1"/>
          <p:cNvSpPr/>
          <p:nvPr/>
        </p:nvSpPr>
        <p:spPr>
          <a:xfrm>
            <a:off x="777240" y="1965960"/>
            <a:ext cx="10515600" cy="1920240"/>
          </a:xfrm>
          <a:prstGeom prst="rect">
            <a:avLst/>
          </a:prstGeom>
          <a:noFill/>
          <a:ln/>
        </p:spPr>
        <p:txBody>
          <a:bodyPr wrap="square" lIns="0" tIns="0" rIns="0" bIns="0" rtlCol="0" anchor="ctr"/>
          <a:lstStyle/>
          <a:p>
            <a:r>
              <a:rPr lang="en-IN" sz="4800" dirty="0">
                <a:solidFill>
                  <a:schemeClr val="bg1"/>
                </a:solidFill>
              </a:rPr>
              <a:t>Restaurant Data Engineering Analytics Platform</a:t>
            </a:r>
            <a:endParaRPr lang="en-US" sz="4600" dirty="0">
              <a:solidFill>
                <a:schemeClr val="bg1"/>
              </a:solidFill>
            </a:endParaRPr>
          </a:p>
        </p:txBody>
      </p:sp>
      <p:sp>
        <p:nvSpPr>
          <p:cNvPr id="4" name="Text 2"/>
          <p:cNvSpPr/>
          <p:nvPr/>
        </p:nvSpPr>
        <p:spPr>
          <a:xfrm>
            <a:off x="822960" y="4023360"/>
            <a:ext cx="9144000" cy="548640"/>
          </a:xfrm>
          <a:prstGeom prst="rect">
            <a:avLst/>
          </a:prstGeom>
          <a:noFill/>
          <a:ln/>
        </p:spPr>
        <p:txBody>
          <a:bodyPr wrap="square" lIns="0" tIns="0" rIns="0" bIns="0" rtlCol="0" anchor="ctr"/>
          <a:lstStyle/>
          <a:p>
            <a:pPr marL="0" indent="0">
              <a:buNone/>
            </a:pPr>
            <a:endParaRPr lang="en-US" sz="1800" dirty="0"/>
          </a:p>
        </p:txBody>
      </p:sp>
      <p:sp>
        <p:nvSpPr>
          <p:cNvPr id="5" name="Text 3"/>
          <p:cNvSpPr/>
          <p:nvPr/>
        </p:nvSpPr>
        <p:spPr>
          <a:xfrm>
            <a:off x="822960" y="5212080"/>
            <a:ext cx="7315200" cy="1280160"/>
          </a:xfrm>
          <a:prstGeom prst="rect">
            <a:avLst/>
          </a:prstGeom>
          <a:noFill/>
          <a:ln/>
        </p:spPr>
        <p:txBody>
          <a:bodyPr wrap="square" lIns="0" tIns="0" rIns="0" bIns="0" rtlCol="0" anchor="ctr"/>
          <a:lstStyle/>
          <a:p>
            <a:pPr marL="228600" indent="-228600">
              <a:lnSpc>
                <a:spcPct val="120000"/>
              </a:lnSpc>
              <a:spcAft>
                <a:spcPts val="800"/>
              </a:spcAft>
              <a:buSzPct val="100000"/>
              <a:buChar char="•"/>
            </a:pPr>
            <a:r>
              <a:rPr lang="en-US" sz="1400" dirty="0">
                <a:solidFill>
                  <a:srgbClr val="E8EEF7"/>
                </a:solidFill>
                <a:latin typeface="Calibri" pitchFamily="34" charset="0"/>
                <a:ea typeface="Calibri" pitchFamily="34" charset="-122"/>
                <a:cs typeface="Calibri" pitchFamily="34" charset="-120"/>
              </a:rPr>
              <a:t>G. Santhosh  —  2420030123</a:t>
            </a:r>
            <a:endParaRPr lang="en-US" sz="1400" dirty="0"/>
          </a:p>
          <a:p>
            <a:pPr marL="228600" indent="-228600">
              <a:lnSpc>
                <a:spcPct val="120000"/>
              </a:lnSpc>
              <a:spcAft>
                <a:spcPts val="800"/>
              </a:spcAft>
              <a:buSzPct val="100000"/>
              <a:buChar char="•"/>
            </a:pPr>
            <a:r>
              <a:rPr lang="en-US" sz="1400" dirty="0">
                <a:solidFill>
                  <a:srgbClr val="E8EEF7"/>
                </a:solidFill>
                <a:latin typeface="Calibri" pitchFamily="34" charset="0"/>
                <a:ea typeface="Calibri" pitchFamily="34" charset="-122"/>
                <a:cs typeface="Calibri" pitchFamily="34" charset="-120"/>
              </a:rPr>
              <a:t>S. Sricharan Reddy  —  2420030127</a:t>
            </a:r>
            <a:endParaRPr lang="en-US" sz="1400" dirty="0"/>
          </a:p>
          <a:p>
            <a:pPr marL="228600" indent="-228600">
              <a:lnSpc>
                <a:spcPct val="120000"/>
              </a:lnSpc>
              <a:spcAft>
                <a:spcPts val="800"/>
              </a:spcAft>
              <a:buSzPct val="100000"/>
              <a:buChar char="•"/>
            </a:pPr>
            <a:r>
              <a:rPr lang="en-US" sz="1400" dirty="0">
                <a:solidFill>
                  <a:srgbClr val="E8EEF7"/>
                </a:solidFill>
                <a:latin typeface="Calibri" pitchFamily="34" charset="0"/>
                <a:ea typeface="Calibri" pitchFamily="34" charset="-122"/>
                <a:cs typeface="Calibri" pitchFamily="34" charset="-120"/>
              </a:rPr>
              <a:t>K. Sricharan Reddy  —  2420090144</a:t>
            </a:r>
            <a:endParaRPr lang="en-US" sz="1400" dirty="0"/>
          </a:p>
        </p:txBody>
      </p:sp>
      <p:sp>
        <p:nvSpPr>
          <p:cNvPr id="7" name="TextBox 6">
            <a:extLst>
              <a:ext uri="{FF2B5EF4-FFF2-40B4-BE49-F238E27FC236}">
                <a16:creationId xmlns:a16="http://schemas.microsoft.com/office/drawing/2014/main" id="{49E104C4-F99E-9EA7-74D7-45F35BA902ED}"/>
              </a:ext>
            </a:extLst>
          </p:cNvPr>
          <p:cNvSpPr txBox="1"/>
          <p:nvPr/>
        </p:nvSpPr>
        <p:spPr>
          <a:xfrm>
            <a:off x="8823056" y="5636731"/>
            <a:ext cx="2287807" cy="1200329"/>
          </a:xfrm>
          <a:prstGeom prst="rect">
            <a:avLst/>
          </a:prstGeom>
          <a:noFill/>
        </p:spPr>
        <p:txBody>
          <a:bodyPr wrap="none" rtlCol="0">
            <a:spAutoFit/>
          </a:bodyPr>
          <a:lstStyle/>
          <a:p>
            <a:pPr lvl="0" algn="ctr" eaLnBrk="0" fontAlgn="base" hangingPunct="0">
              <a:spcBef>
                <a:spcPct val="0"/>
              </a:spcBef>
              <a:spcAft>
                <a:spcPct val="0"/>
              </a:spcAft>
            </a:pPr>
            <a:r>
              <a:rPr lang="en-US" dirty="0">
                <a:solidFill>
                  <a:schemeClr val="bg1">
                    <a:lumMod val="95000"/>
                  </a:schemeClr>
                </a:solidFill>
              </a:rPr>
              <a:t>Under the guidance of</a:t>
            </a:r>
            <a:br>
              <a:rPr lang="en-US" dirty="0">
                <a:solidFill>
                  <a:schemeClr val="bg1">
                    <a:lumMod val="95000"/>
                  </a:schemeClr>
                </a:solidFill>
              </a:rPr>
            </a:br>
            <a:r>
              <a:rPr lang="en-US" dirty="0">
                <a:solidFill>
                  <a:schemeClr val="bg1">
                    <a:lumMod val="95000"/>
                  </a:schemeClr>
                </a:solidFill>
              </a:rPr>
              <a:t>Associate Professor</a:t>
            </a:r>
          </a:p>
          <a:p>
            <a:pPr lvl="0" algn="ctr" eaLnBrk="0" fontAlgn="base" hangingPunct="0">
              <a:spcBef>
                <a:spcPct val="0"/>
              </a:spcBef>
              <a:spcAft>
                <a:spcPct val="0"/>
              </a:spcAft>
            </a:pPr>
            <a:r>
              <a:rPr lang="en-US" dirty="0">
                <a:solidFill>
                  <a:schemeClr val="bg1">
                    <a:lumMod val="95000"/>
                  </a:schemeClr>
                </a:solidFill>
              </a:rPr>
              <a:t>Dr. N. Shirisha</a:t>
            </a:r>
          </a:p>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rPr>
              <a:t>Abstract</a:t>
            </a:r>
            <a:endParaRPr lang="en-US" sz="3000" dirty="0"/>
          </a:p>
        </p:txBody>
      </p:sp>
      <p:sp>
        <p:nvSpPr>
          <p:cNvPr id="3" name="Text 1"/>
          <p:cNvSpPr/>
          <p:nvPr/>
        </p:nvSpPr>
        <p:spPr>
          <a:xfrm>
            <a:off x="1391054" y="1371600"/>
            <a:ext cx="9085635" cy="4572000"/>
          </a:xfrm>
          <a:prstGeom prst="rect">
            <a:avLst/>
          </a:prstGeom>
          <a:noFill/>
          <a:ln/>
        </p:spPr>
        <p:txBody>
          <a:bodyPr wrap="square" lIns="0" tIns="0" rIns="0" bIns="0" rtlCol="0" anchor="t"/>
          <a:lstStyle/>
          <a:p>
            <a:r>
              <a:rPr lang="en-IN" dirty="0"/>
              <a:t>The </a:t>
            </a:r>
            <a:r>
              <a:rPr lang="en-IN" b="1" dirty="0"/>
              <a:t>Restaurant Data Engineering Analytics Platform</a:t>
            </a:r>
            <a:r>
              <a:rPr lang="en-IN" dirty="0"/>
              <a:t> is an end-to-end data engineering system designed to collect, process, store, and </a:t>
            </a:r>
            <a:r>
              <a:rPr lang="en-IN" dirty="0" err="1"/>
              <a:t>analyze</a:t>
            </a:r>
            <a:r>
              <a:rPr lang="en-IN" dirty="0"/>
              <a:t> restaurant data to generate meaningful business insights. Restaurants continuously produce large amounts of data through customer orders, menu items, table reservations, payments, preparation times, delivery records, and customer activities. Managing these data sources manually can make it difficult to identify trends and support timely business decisions. The proposed platform uses </a:t>
            </a:r>
            <a:r>
              <a:rPr lang="en-IN" b="1" dirty="0"/>
              <a:t>Python</a:t>
            </a:r>
            <a:r>
              <a:rPr lang="en-IN" dirty="0"/>
              <a:t> for data collection, cleaning, and transformation, while </a:t>
            </a:r>
            <a:r>
              <a:rPr lang="en-IN" b="1" dirty="0"/>
              <a:t>PostgreSQL</a:t>
            </a:r>
            <a:r>
              <a:rPr lang="en-IN" dirty="0"/>
              <a:t> provides centralized storage for structured and processed data. </a:t>
            </a:r>
            <a:r>
              <a:rPr lang="en-IN" b="1" dirty="0"/>
              <a:t>Apache Airflow</a:t>
            </a:r>
            <a:r>
              <a:rPr lang="en-IN" dirty="0"/>
              <a:t> can be used to automate and schedule ETL workflows, ensuring that data is regularly processed and updated. The processed data can be visualized using </a:t>
            </a:r>
            <a:r>
              <a:rPr lang="en-IN" b="1" dirty="0"/>
              <a:t>Power BI dashboards</a:t>
            </a:r>
            <a:r>
              <a:rPr lang="en-IN" dirty="0"/>
              <a:t>, allowing restaurant managers to monitor important performance indicators. The system can </a:t>
            </a:r>
            <a:r>
              <a:rPr lang="en-IN" dirty="0" err="1"/>
              <a:t>analyze</a:t>
            </a:r>
            <a:r>
              <a:rPr lang="en-IN" dirty="0"/>
              <a:t> total revenue, average order value, popular dishes, peak ordering hours, table utilization, order preparation time, cancellations, and customer purchasing patterns. These insights can help restaurants improve menu planning, optimize operations, reduce unnecessary waste, understand customer </a:t>
            </a:r>
            <a:r>
              <a:rPr lang="en-IN" dirty="0" err="1"/>
              <a:t>behavior</a:t>
            </a:r>
            <a:r>
              <a:rPr lang="en-IN" dirty="0"/>
              <a:t>, and increase revenue. Overall, the project demonstrates how data engineering technologies can transform raw restaurant information into organized, reliable, and actionable business intelligence for effective decision-making.</a:t>
            </a:r>
          </a:p>
        </p:txBody>
      </p:sp>
      <p:sp>
        <p:nvSpPr>
          <p:cNvPr id="5" name="Text 3"/>
          <p:cNvSpPr/>
          <p:nvPr/>
        </p:nvSpPr>
        <p:spPr>
          <a:xfrm>
            <a:off x="7589520" y="6510528"/>
            <a:ext cx="4114800" cy="274320"/>
          </a:xfrm>
          <a:prstGeom prst="rect">
            <a:avLst/>
          </a:prstGeom>
          <a:noFill/>
          <a:ln/>
        </p:spPr>
        <p:txBody>
          <a:bodyPr wrap="square" lIns="0" tIns="0" rIns="0" bIns="0" rtlCol="0" anchor="ctr"/>
          <a:lstStyle/>
          <a:p>
            <a:pPr marL="0" indent="0" algn="r">
              <a:buNone/>
            </a:pPr>
            <a:r>
              <a:rPr lang="en-US" sz="1000" dirty="0">
                <a:solidFill>
                  <a:srgbClr val="5B6B85"/>
                </a:solidFill>
                <a:latin typeface="Calibri" pitchFamily="34" charset="0"/>
                <a:ea typeface="Calibri" pitchFamily="34" charset="-122"/>
                <a:cs typeface="Calibri" pitchFamily="34" charset="-120"/>
              </a:rPr>
              <a:t>Real-Time E-commerce Analytics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rPr>
              <a:t>Introduction</a:t>
            </a:r>
            <a:endParaRPr lang="en-US" sz="3000" dirty="0"/>
          </a:p>
        </p:txBody>
      </p:sp>
      <p:sp>
        <p:nvSpPr>
          <p:cNvPr id="3" name="Text 1"/>
          <p:cNvSpPr/>
          <p:nvPr/>
        </p:nvSpPr>
        <p:spPr>
          <a:xfrm>
            <a:off x="640080" y="1371600"/>
            <a:ext cx="10698480" cy="4572000"/>
          </a:xfrm>
          <a:prstGeom prst="rect">
            <a:avLst/>
          </a:prstGeom>
          <a:noFill/>
          <a:ln/>
        </p:spPr>
        <p:txBody>
          <a:bodyPr wrap="square" lIns="0" tIns="0" rIns="0" bIns="0" rtlCol="0" anchor="t"/>
          <a:lstStyle/>
          <a:p>
            <a:pPr marL="228600" indent="-228600">
              <a:lnSpc>
                <a:spcPct val="130000"/>
              </a:lnSpc>
              <a:spcAft>
                <a:spcPts val="1400"/>
              </a:spcAft>
              <a:buSzPct val="100000"/>
              <a:buChar char="•"/>
            </a:pPr>
            <a:endParaRPr lang="en-US" sz="1500" dirty="0"/>
          </a:p>
        </p:txBody>
      </p:sp>
      <p:sp>
        <p:nvSpPr>
          <p:cNvPr id="4" name="Text 2"/>
          <p:cNvSpPr/>
          <p:nvPr/>
        </p:nvSpPr>
        <p:spPr>
          <a:xfrm>
            <a:off x="457200" y="6510528"/>
            <a:ext cx="7315200" cy="274320"/>
          </a:xfrm>
          <a:prstGeom prst="rect">
            <a:avLst/>
          </a:prstGeom>
          <a:noFill/>
          <a:ln/>
        </p:spPr>
        <p:txBody>
          <a:bodyPr wrap="square" lIns="0" tIns="0" rIns="0" bIns="0" rtlCol="0" anchor="ctr"/>
          <a:lstStyle/>
          <a:p>
            <a:pPr marL="0" indent="0">
              <a:buNone/>
            </a:pPr>
            <a:r>
              <a:rPr lang="en-US" sz="1000" dirty="0">
                <a:solidFill>
                  <a:srgbClr val="5B6B85"/>
                </a:solidFill>
                <a:latin typeface="Calibri" pitchFamily="34" charset="0"/>
                <a:ea typeface="Calibri" pitchFamily="34" charset="-122"/>
                <a:cs typeface="Calibri" pitchFamily="34" charset="-120"/>
              </a:rPr>
              <a:t>Business Impact</a:t>
            </a:r>
            <a:endParaRPr lang="en-US" sz="1000" dirty="0"/>
          </a:p>
        </p:txBody>
      </p:sp>
      <p:sp>
        <p:nvSpPr>
          <p:cNvPr id="5" name="Text 3"/>
          <p:cNvSpPr/>
          <p:nvPr/>
        </p:nvSpPr>
        <p:spPr>
          <a:xfrm>
            <a:off x="7589520" y="6510528"/>
            <a:ext cx="4114800" cy="274320"/>
          </a:xfrm>
          <a:prstGeom prst="rect">
            <a:avLst/>
          </a:prstGeom>
          <a:noFill/>
          <a:ln/>
        </p:spPr>
        <p:txBody>
          <a:bodyPr wrap="square" lIns="0" tIns="0" rIns="0" bIns="0" rtlCol="0" anchor="ctr"/>
          <a:lstStyle/>
          <a:p>
            <a:pPr marL="0" indent="0" algn="r">
              <a:buNone/>
            </a:pPr>
            <a:r>
              <a:rPr lang="en-US" sz="1000" dirty="0">
                <a:solidFill>
                  <a:srgbClr val="5B6B85"/>
                </a:solidFill>
                <a:latin typeface="Calibri" pitchFamily="34" charset="0"/>
                <a:ea typeface="Calibri" pitchFamily="34" charset="-122"/>
                <a:cs typeface="Calibri" pitchFamily="34" charset="-120"/>
              </a:rPr>
              <a:t>Real-Time E-commerce Analytics</a:t>
            </a:r>
            <a:endParaRPr lang="en-US" sz="1000" dirty="0"/>
          </a:p>
        </p:txBody>
      </p:sp>
      <p:sp>
        <p:nvSpPr>
          <p:cNvPr id="6" name="TextBox 5">
            <a:extLst>
              <a:ext uri="{FF2B5EF4-FFF2-40B4-BE49-F238E27FC236}">
                <a16:creationId xmlns:a16="http://schemas.microsoft.com/office/drawing/2014/main" id="{C1E2E080-DA36-798B-F70F-823EA5E2BEDE}"/>
              </a:ext>
            </a:extLst>
          </p:cNvPr>
          <p:cNvSpPr txBox="1"/>
          <p:nvPr/>
        </p:nvSpPr>
        <p:spPr>
          <a:xfrm>
            <a:off x="1239520" y="1371600"/>
            <a:ext cx="9733281" cy="4524315"/>
          </a:xfrm>
          <a:prstGeom prst="rect">
            <a:avLst/>
          </a:prstGeom>
          <a:noFill/>
        </p:spPr>
        <p:txBody>
          <a:bodyPr wrap="square" rtlCol="0">
            <a:spAutoFit/>
          </a:bodyPr>
          <a:lstStyle/>
          <a:p>
            <a:r>
              <a:rPr lang="en-IN" dirty="0"/>
              <a:t>The restaurant industry generates large volumes of data through customer orders, menu items, table reservations, payments, inventory, and delivery operations. This data contains valuable information about customer preferences, sales performance, and restaurant operations. However, when data is stored across different systems or handled manually, it becomes difficult to obtain accurate and timely insights.</a:t>
            </a:r>
          </a:p>
          <a:p>
            <a:endParaRPr lang="en-IN" dirty="0"/>
          </a:p>
          <a:p>
            <a:r>
              <a:rPr lang="en-IN" dirty="0"/>
              <a:t>The </a:t>
            </a:r>
            <a:r>
              <a:rPr lang="en-IN" b="1" dirty="0"/>
              <a:t>Restaurant Data Engineering Analytics Platform</a:t>
            </a:r>
            <a:r>
              <a:rPr lang="en-IN" dirty="0"/>
              <a:t> provides a centralized approach for collecting, cleaning, transforming, storing, and </a:t>
            </a:r>
            <a:r>
              <a:rPr lang="en-IN" dirty="0" err="1"/>
              <a:t>analyzing</a:t>
            </a:r>
            <a:r>
              <a:rPr lang="en-IN" dirty="0"/>
              <a:t> restaurant data. The system uses </a:t>
            </a:r>
            <a:r>
              <a:rPr lang="en-IN" b="1" dirty="0"/>
              <a:t>Python</a:t>
            </a:r>
            <a:r>
              <a:rPr lang="en-IN" dirty="0"/>
              <a:t> for data processing and </a:t>
            </a:r>
            <a:r>
              <a:rPr lang="en-IN" b="1" dirty="0"/>
              <a:t>PostgreSQL</a:t>
            </a:r>
            <a:r>
              <a:rPr lang="en-IN" dirty="0"/>
              <a:t> for structured data storage. </a:t>
            </a:r>
            <a:r>
              <a:rPr lang="en-IN" b="1" dirty="0"/>
              <a:t>Apache Airflow</a:t>
            </a:r>
            <a:r>
              <a:rPr lang="en-IN" dirty="0"/>
              <a:t> can be used to automate and schedule data pipelines, ensuring that data is processed consistently. The processed information can then be presented through </a:t>
            </a:r>
            <a:r>
              <a:rPr lang="en-IN" b="1" dirty="0"/>
              <a:t>Power BI dashboards</a:t>
            </a:r>
            <a:r>
              <a:rPr lang="en-IN" dirty="0"/>
              <a:t> for easy analysis.</a:t>
            </a:r>
          </a:p>
          <a:p>
            <a:endParaRPr lang="en-IN" dirty="0"/>
          </a:p>
          <a:p>
            <a:r>
              <a:rPr lang="en-IN" dirty="0"/>
              <a:t>The platform focuses on important areas such as sales trends, popular dishes, peak ordering hours, average order value, table utilization, order preparation time, and customer </a:t>
            </a:r>
            <a:r>
              <a:rPr lang="en-IN" dirty="0" err="1"/>
              <a:t>behavior</a:t>
            </a:r>
            <a:r>
              <a:rPr lang="en-IN" dirty="0"/>
              <a:t>. By transforming raw restaurant data into meaningful information, the system helps restaurant managers understand operational performance and make better data-driven decisions.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Core Technologies</a:t>
            </a:r>
            <a:endParaRPr lang="en-US" sz="3000" dirty="0"/>
          </a:p>
        </p:txBody>
      </p:sp>
      <p:sp>
        <p:nvSpPr>
          <p:cNvPr id="3" name="Text 1"/>
          <p:cNvSpPr/>
          <p:nvPr/>
        </p:nvSpPr>
        <p:spPr>
          <a:xfrm>
            <a:off x="640080" y="1371600"/>
            <a:ext cx="10698480" cy="4572000"/>
          </a:xfrm>
          <a:prstGeom prst="rect">
            <a:avLst/>
          </a:prstGeom>
          <a:noFill/>
          <a:ln/>
        </p:spPr>
        <p:txBody>
          <a:bodyPr wrap="square" lIns="0" tIns="0" rIns="0" bIns="0" rtlCol="0" anchor="t"/>
          <a:lstStyle/>
          <a:p>
            <a:pPr marL="228600" indent="-228600">
              <a:lnSpc>
                <a:spcPct val="130000"/>
              </a:lnSpc>
              <a:spcAft>
                <a:spcPts val="1400"/>
              </a:spcAft>
              <a:buSzPct val="100000"/>
              <a:buChar char="•"/>
            </a:pPr>
            <a:endParaRPr lang="en-US" sz="1500" dirty="0"/>
          </a:p>
        </p:txBody>
      </p:sp>
      <p:sp>
        <p:nvSpPr>
          <p:cNvPr id="4" name="Text 2"/>
          <p:cNvSpPr/>
          <p:nvPr/>
        </p:nvSpPr>
        <p:spPr>
          <a:xfrm>
            <a:off x="457200" y="6510528"/>
            <a:ext cx="7315200" cy="274320"/>
          </a:xfrm>
          <a:prstGeom prst="rect">
            <a:avLst/>
          </a:prstGeom>
          <a:noFill/>
          <a:ln/>
        </p:spPr>
        <p:txBody>
          <a:bodyPr wrap="square" lIns="0" tIns="0" rIns="0" bIns="0" rtlCol="0" anchor="ctr"/>
          <a:lstStyle/>
          <a:p>
            <a:pPr marL="0" indent="0">
              <a:buNone/>
            </a:pPr>
            <a:r>
              <a:rPr lang="en-US" sz="1000" dirty="0">
                <a:solidFill>
                  <a:srgbClr val="5B6B85"/>
                </a:solidFill>
                <a:latin typeface="Calibri" pitchFamily="34" charset="0"/>
                <a:ea typeface="Calibri" pitchFamily="34" charset="-122"/>
                <a:cs typeface="Calibri" pitchFamily="34" charset="-120"/>
              </a:rPr>
              <a:t>Reference Stack</a:t>
            </a:r>
            <a:endParaRPr lang="en-US" sz="1000" dirty="0"/>
          </a:p>
        </p:txBody>
      </p:sp>
      <p:sp>
        <p:nvSpPr>
          <p:cNvPr id="5" name="Text 3"/>
          <p:cNvSpPr/>
          <p:nvPr/>
        </p:nvSpPr>
        <p:spPr>
          <a:xfrm>
            <a:off x="7589520" y="6510528"/>
            <a:ext cx="4114800" cy="274320"/>
          </a:xfrm>
          <a:prstGeom prst="rect">
            <a:avLst/>
          </a:prstGeom>
          <a:noFill/>
          <a:ln/>
        </p:spPr>
        <p:txBody>
          <a:bodyPr wrap="square" lIns="0" tIns="0" rIns="0" bIns="0" rtlCol="0" anchor="ctr"/>
          <a:lstStyle/>
          <a:p>
            <a:pPr marL="0" indent="0" algn="r">
              <a:buNone/>
            </a:pPr>
            <a:r>
              <a:rPr lang="en-US" sz="1000" dirty="0">
                <a:solidFill>
                  <a:srgbClr val="5B6B85"/>
                </a:solidFill>
                <a:latin typeface="Calibri" pitchFamily="34" charset="0"/>
                <a:ea typeface="Calibri" pitchFamily="34" charset="-122"/>
                <a:cs typeface="Calibri" pitchFamily="34" charset="-120"/>
              </a:rPr>
              <a:t>Real-Time E-commerce Analytics</a:t>
            </a:r>
            <a:endParaRPr lang="en-US" sz="1000" dirty="0"/>
          </a:p>
        </p:txBody>
      </p:sp>
      <p:sp>
        <p:nvSpPr>
          <p:cNvPr id="6" name="TextBox 5">
            <a:extLst>
              <a:ext uri="{FF2B5EF4-FFF2-40B4-BE49-F238E27FC236}">
                <a16:creationId xmlns:a16="http://schemas.microsoft.com/office/drawing/2014/main" id="{718313F9-F29A-7CA4-0DB5-8ED605A92BB9}"/>
              </a:ext>
            </a:extLst>
          </p:cNvPr>
          <p:cNvSpPr txBox="1"/>
          <p:nvPr/>
        </p:nvSpPr>
        <p:spPr>
          <a:xfrm>
            <a:off x="1310641" y="1703118"/>
            <a:ext cx="9506516" cy="4524315"/>
          </a:xfrm>
          <a:prstGeom prst="rect">
            <a:avLst/>
          </a:prstGeom>
          <a:noFill/>
        </p:spPr>
        <p:txBody>
          <a:bodyPr wrap="square" rtlCol="0">
            <a:spAutoFit/>
          </a:bodyPr>
          <a:lstStyle/>
          <a:p>
            <a:pPr marL="285750" lvl="0" indent="-285750">
              <a:buFont typeface="Arial" panose="020B0604020202020204" pitchFamily="34" charset="0"/>
              <a:buChar char="•"/>
            </a:pPr>
            <a:r>
              <a:rPr lang="en-IN" b="1" dirty="0"/>
              <a:t>Python</a:t>
            </a:r>
            <a:r>
              <a:rPr lang="en-IN" dirty="0"/>
              <a:t> — Used for data collection, cleaning, transformation, and ETL operations. </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b="1" dirty="0"/>
              <a:t>Pandas</a:t>
            </a:r>
            <a:r>
              <a:rPr lang="en-IN" dirty="0"/>
              <a:t> — Used for manipulating, cleaning, and </a:t>
            </a:r>
            <a:r>
              <a:rPr lang="en-IN" dirty="0" err="1"/>
              <a:t>analyzing</a:t>
            </a:r>
            <a:r>
              <a:rPr lang="en-IN" dirty="0"/>
              <a:t> restaurant datasets. </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b="1" dirty="0"/>
              <a:t>PostgreSQL</a:t>
            </a:r>
            <a:r>
              <a:rPr lang="en-IN" dirty="0"/>
              <a:t> — Used as the centralized database for storing structured restaurant data.</a:t>
            </a:r>
          </a:p>
          <a:p>
            <a:pPr lvl="0"/>
            <a:r>
              <a:rPr lang="en-IN" dirty="0"/>
              <a:t> </a:t>
            </a:r>
          </a:p>
          <a:p>
            <a:pPr marL="285750" lvl="0" indent="-285750">
              <a:buFont typeface="Arial" panose="020B0604020202020204" pitchFamily="34" charset="0"/>
              <a:buChar char="•"/>
            </a:pPr>
            <a:r>
              <a:rPr lang="en-IN" b="1" dirty="0"/>
              <a:t>Apache Airflow</a:t>
            </a:r>
            <a:r>
              <a:rPr lang="en-IN" dirty="0"/>
              <a:t> — Used to schedule, automate, and monitor ETL workflows. </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b="1" dirty="0"/>
              <a:t>SQL</a:t>
            </a:r>
            <a:r>
              <a:rPr lang="en-IN" dirty="0"/>
              <a:t> — Used to query restaurant data and generate analytical insights. </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b="1" dirty="0"/>
              <a:t>Docker</a:t>
            </a:r>
            <a:r>
              <a:rPr lang="en-IN" dirty="0"/>
              <a:t> — Used to containerize the application and its supporting services. </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b="1" dirty="0"/>
              <a:t>Power BI</a:t>
            </a:r>
            <a:r>
              <a:rPr lang="en-IN" dirty="0"/>
              <a:t> — Used to create interactive dashboards and visualize restaurant KPIs. </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b="1" dirty="0" err="1"/>
              <a:t>FastAPI</a:t>
            </a:r>
            <a:r>
              <a:rPr lang="en-IN" dirty="0"/>
              <a:t> — Can be used to provide APIs for accessing processed restaurant data.</a:t>
            </a:r>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Real-World Use Cases</a:t>
            </a:r>
            <a:endParaRPr lang="en-US" sz="3000" dirty="0"/>
          </a:p>
        </p:txBody>
      </p:sp>
      <p:sp>
        <p:nvSpPr>
          <p:cNvPr id="3" name="Text 1"/>
          <p:cNvSpPr/>
          <p:nvPr/>
        </p:nvSpPr>
        <p:spPr>
          <a:xfrm>
            <a:off x="1000652" y="1294384"/>
            <a:ext cx="10190696" cy="4572000"/>
          </a:xfrm>
          <a:prstGeom prst="rect">
            <a:avLst/>
          </a:prstGeom>
          <a:noFill/>
          <a:ln/>
        </p:spPr>
        <p:txBody>
          <a:bodyPr wrap="square" lIns="0" tIns="0" rIns="0" bIns="0" rtlCol="0" anchor="t"/>
          <a:lstStyle/>
          <a:p>
            <a:pPr marL="285750" lvl="0" indent="-285750">
              <a:buFont typeface="Arial" panose="020B0604020202020204" pitchFamily="34" charset="0"/>
              <a:buChar char="•"/>
            </a:pPr>
            <a:r>
              <a:rPr lang="en-IN" b="1" dirty="0"/>
              <a:t>Sales Analysis</a:t>
            </a:r>
            <a:r>
              <a:rPr lang="en-IN" dirty="0"/>
              <a:t> — Track daily, weekly, and monthly restaurant revenue. </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b="1" dirty="0"/>
              <a:t>Menu Optimization</a:t>
            </a:r>
            <a:r>
              <a:rPr lang="en-IN" dirty="0"/>
              <a:t> — Identify best-selling and low-performing dishes. </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b="1" dirty="0"/>
              <a:t>Peak-Hour Analysis</a:t>
            </a:r>
            <a:r>
              <a:rPr lang="en-IN" dirty="0"/>
              <a:t> — Determine busy ordering periods and plan staff accordingly. </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b="1" dirty="0"/>
              <a:t>Customer </a:t>
            </a:r>
            <a:r>
              <a:rPr lang="en-IN" b="1" dirty="0" err="1"/>
              <a:t>Behavior</a:t>
            </a:r>
            <a:r>
              <a:rPr lang="en-IN" b="1" dirty="0"/>
              <a:t> Analysis</a:t>
            </a:r>
            <a:r>
              <a:rPr lang="en-IN" dirty="0"/>
              <a:t> — Understand ordering patterns and repeat customers. </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b="1" dirty="0"/>
              <a:t>Table Utilization</a:t>
            </a:r>
            <a:r>
              <a:rPr lang="en-IN" dirty="0"/>
              <a:t> — Monitor reservations, occupancy, and table turnover. </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b="1" dirty="0"/>
              <a:t>Kitchen Performance</a:t>
            </a:r>
            <a:r>
              <a:rPr lang="en-IN" dirty="0"/>
              <a:t> — </a:t>
            </a:r>
            <a:r>
              <a:rPr lang="en-IN" dirty="0" err="1"/>
              <a:t>Analyze</a:t>
            </a:r>
            <a:r>
              <a:rPr lang="en-IN" dirty="0"/>
              <a:t> food preparation time and identify operational delays.</a:t>
            </a:r>
          </a:p>
          <a:p>
            <a:pPr lvl="0"/>
            <a:r>
              <a:rPr lang="en-IN" dirty="0"/>
              <a:t> </a:t>
            </a:r>
          </a:p>
          <a:p>
            <a:pPr marL="285750" lvl="0" indent="-285750">
              <a:buFont typeface="Arial" panose="020B0604020202020204" pitchFamily="34" charset="0"/>
              <a:buChar char="•"/>
            </a:pPr>
            <a:r>
              <a:rPr lang="en-IN" b="1" dirty="0"/>
              <a:t>Delivery Monitoring</a:t>
            </a:r>
            <a:r>
              <a:rPr lang="en-IN" dirty="0"/>
              <a:t> — Track delivery times, delays, and order completion rates. </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b="1" dirty="0"/>
              <a:t>Inventory Planning</a:t>
            </a:r>
            <a:r>
              <a:rPr lang="en-IN" dirty="0"/>
              <a:t> — Use historical demand to support better ingredient planning and reduce waste.</a:t>
            </a:r>
          </a:p>
          <a:p>
            <a:pPr lvl="0"/>
            <a:endParaRPr lang="en-IN" dirty="0"/>
          </a:p>
          <a:p>
            <a:pPr marL="285750" lvl="0" indent="-285750">
              <a:buFont typeface="Arial" panose="020B0604020202020204" pitchFamily="34" charset="0"/>
              <a:buChar char="•"/>
            </a:pPr>
            <a:r>
              <a:rPr lang="en-IN" b="1" dirty="0"/>
              <a:t>Promotion Analysis</a:t>
            </a:r>
            <a:r>
              <a:rPr lang="en-IN" dirty="0"/>
              <a:t> — Measure the performance of discounts and special offers. </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b="1" dirty="0"/>
              <a:t>Business Decision Support</a:t>
            </a:r>
            <a:r>
              <a:rPr lang="en-IN" dirty="0"/>
              <a:t> — Provide dashboards and data-driven insights for restaurant managers.</a:t>
            </a:r>
          </a:p>
        </p:txBody>
      </p:sp>
      <p:sp>
        <p:nvSpPr>
          <p:cNvPr id="4" name="Text 2"/>
          <p:cNvSpPr/>
          <p:nvPr/>
        </p:nvSpPr>
        <p:spPr>
          <a:xfrm>
            <a:off x="457200" y="6510528"/>
            <a:ext cx="7315200" cy="274320"/>
          </a:xfrm>
          <a:prstGeom prst="rect">
            <a:avLst/>
          </a:prstGeom>
          <a:noFill/>
          <a:ln/>
        </p:spPr>
        <p:txBody>
          <a:bodyPr wrap="square" lIns="0" tIns="0" rIns="0" bIns="0" rtlCol="0" anchor="ctr"/>
          <a:lstStyle/>
          <a:p>
            <a:pPr marL="0" indent="0">
              <a:buNone/>
            </a:pPr>
            <a:r>
              <a:rPr lang="en-US" sz="1000" dirty="0">
                <a:solidFill>
                  <a:srgbClr val="5B6B85"/>
                </a:solidFill>
                <a:latin typeface="Calibri" pitchFamily="34" charset="0"/>
                <a:ea typeface="Calibri" pitchFamily="34" charset="-122"/>
                <a:cs typeface="Calibri" pitchFamily="34" charset="-120"/>
              </a:rPr>
              <a:t>Applications</a:t>
            </a:r>
            <a:endParaRPr lang="en-US" sz="1000" dirty="0"/>
          </a:p>
        </p:txBody>
      </p:sp>
      <p:sp>
        <p:nvSpPr>
          <p:cNvPr id="5" name="Text 3"/>
          <p:cNvSpPr/>
          <p:nvPr/>
        </p:nvSpPr>
        <p:spPr>
          <a:xfrm>
            <a:off x="7589520" y="6510528"/>
            <a:ext cx="4114800" cy="274320"/>
          </a:xfrm>
          <a:prstGeom prst="rect">
            <a:avLst/>
          </a:prstGeom>
          <a:noFill/>
          <a:ln/>
        </p:spPr>
        <p:txBody>
          <a:bodyPr wrap="square" lIns="0" tIns="0" rIns="0" bIns="0" rtlCol="0" anchor="ctr"/>
          <a:lstStyle/>
          <a:p>
            <a:pPr marL="0" indent="0" algn="r">
              <a:buNone/>
            </a:pPr>
            <a:r>
              <a:rPr lang="en-US" sz="1000" dirty="0">
                <a:solidFill>
                  <a:srgbClr val="5B6B85"/>
                </a:solidFill>
                <a:latin typeface="Calibri" pitchFamily="34" charset="0"/>
                <a:ea typeface="Calibri" pitchFamily="34" charset="-122"/>
                <a:cs typeface="Calibri" pitchFamily="34" charset="-120"/>
              </a:rPr>
              <a:t>Real-Time E-commerce Analytics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Business Benefits</a:t>
            </a:r>
            <a:endParaRPr lang="en-US" sz="3000" dirty="0"/>
          </a:p>
        </p:txBody>
      </p:sp>
      <p:sp>
        <p:nvSpPr>
          <p:cNvPr id="3" name="Text 1"/>
          <p:cNvSpPr/>
          <p:nvPr/>
        </p:nvSpPr>
        <p:spPr>
          <a:xfrm>
            <a:off x="1224820" y="1458976"/>
            <a:ext cx="10093420" cy="4572000"/>
          </a:xfrm>
          <a:prstGeom prst="rect">
            <a:avLst/>
          </a:prstGeom>
          <a:noFill/>
          <a:ln/>
        </p:spPr>
        <p:txBody>
          <a:bodyPr wrap="square" lIns="0" tIns="0" rIns="0" bIns="0" rtlCol="0" anchor="t"/>
          <a:lstStyle/>
          <a:p>
            <a:pPr marL="285750" lvl="0" indent="-285750">
              <a:buFont typeface="Arial" panose="020B0604020202020204" pitchFamily="34" charset="0"/>
              <a:buChar char="•"/>
            </a:pPr>
            <a:r>
              <a:rPr lang="en-IN" b="1" dirty="0"/>
              <a:t>Better Decision-Making</a:t>
            </a:r>
            <a:r>
              <a:rPr lang="en-IN" dirty="0"/>
              <a:t> — Provides accurate and organized restaurant data for informed decisions. </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b="1" dirty="0"/>
              <a:t>Increased Revenue</a:t>
            </a:r>
            <a:r>
              <a:rPr lang="en-IN" dirty="0"/>
              <a:t> — Identifies popular dishes and high-demand periods to improve sales. </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b="1" dirty="0"/>
              <a:t>Reduced Food Waste</a:t>
            </a:r>
            <a:r>
              <a:rPr lang="en-IN" dirty="0"/>
              <a:t> — Supports better inventory and ingredient planning based on demand. </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b="1" dirty="0"/>
              <a:t>Improved Operations</a:t>
            </a:r>
            <a:r>
              <a:rPr lang="en-IN" dirty="0"/>
              <a:t> — Helps identify kitchen, service, and delivery bottlenecks. </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b="1" dirty="0"/>
              <a:t>Enhanced Customer Experience</a:t>
            </a:r>
            <a:r>
              <a:rPr lang="en-IN" dirty="0"/>
              <a:t> — Understands customer preferences and ordering patterns. </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b="1" dirty="0"/>
              <a:t>Efficient Resource Management</a:t>
            </a:r>
            <a:r>
              <a:rPr lang="en-IN" dirty="0"/>
              <a:t> — Helps optimize staff, tables, and restaurant resources. </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b="1" dirty="0"/>
              <a:t>Centralized Data Management</a:t>
            </a:r>
            <a:r>
              <a:rPr lang="en-IN" dirty="0"/>
              <a:t> — Combines restaurant data into a single analytics platform.</a:t>
            </a:r>
          </a:p>
          <a:p>
            <a:pPr lvl="0"/>
            <a:endParaRPr lang="en-IN" dirty="0"/>
          </a:p>
          <a:p>
            <a:pPr marL="285750" lvl="0" indent="-285750">
              <a:buFont typeface="Arial" panose="020B0604020202020204" pitchFamily="34" charset="0"/>
              <a:buChar char="•"/>
            </a:pPr>
            <a:r>
              <a:rPr lang="en-IN" b="1" dirty="0"/>
              <a:t>Automated Reporting</a:t>
            </a:r>
            <a:r>
              <a:rPr lang="en-IN" dirty="0"/>
              <a:t> — Reduces manual reporting through automated ETL workflows and dashboards.</a:t>
            </a:r>
          </a:p>
          <a:p>
            <a:pPr lvl="0"/>
            <a:endParaRPr lang="en-IN" dirty="0"/>
          </a:p>
          <a:p>
            <a:pPr marL="285750" lvl="0" indent="-285750">
              <a:buFont typeface="Arial" panose="020B0604020202020204" pitchFamily="34" charset="0"/>
              <a:buChar char="•"/>
            </a:pPr>
            <a:r>
              <a:rPr lang="en-IN" b="1" dirty="0"/>
              <a:t>Performance Monitoring</a:t>
            </a:r>
            <a:r>
              <a:rPr lang="en-IN" dirty="0"/>
              <a:t> — Enables continuous tracking of key restaurant KPIs.</a:t>
            </a:r>
          </a:p>
        </p:txBody>
      </p:sp>
      <p:sp>
        <p:nvSpPr>
          <p:cNvPr id="4" name="Text 2"/>
          <p:cNvSpPr/>
          <p:nvPr/>
        </p:nvSpPr>
        <p:spPr>
          <a:xfrm>
            <a:off x="457200" y="6510528"/>
            <a:ext cx="7315200" cy="274320"/>
          </a:xfrm>
          <a:prstGeom prst="rect">
            <a:avLst/>
          </a:prstGeom>
          <a:noFill/>
          <a:ln/>
        </p:spPr>
        <p:txBody>
          <a:bodyPr wrap="square" lIns="0" tIns="0" rIns="0" bIns="0" rtlCol="0" anchor="ctr"/>
          <a:lstStyle/>
          <a:p>
            <a:pPr marL="0" indent="0">
              <a:buNone/>
            </a:pPr>
            <a:r>
              <a:rPr lang="en-US" sz="1000" dirty="0">
                <a:solidFill>
                  <a:srgbClr val="5B6B85"/>
                </a:solidFill>
                <a:latin typeface="Calibri" pitchFamily="34" charset="0"/>
                <a:ea typeface="Calibri" pitchFamily="34" charset="-122"/>
                <a:cs typeface="Calibri" pitchFamily="34" charset="-120"/>
              </a:rPr>
              <a:t>Value Delivered</a:t>
            </a:r>
            <a:endParaRPr lang="en-US" sz="1000" dirty="0"/>
          </a:p>
        </p:txBody>
      </p:sp>
      <p:sp>
        <p:nvSpPr>
          <p:cNvPr id="5" name="Text 3"/>
          <p:cNvSpPr/>
          <p:nvPr/>
        </p:nvSpPr>
        <p:spPr>
          <a:xfrm>
            <a:off x="7589520" y="6510528"/>
            <a:ext cx="4114800" cy="274320"/>
          </a:xfrm>
          <a:prstGeom prst="rect">
            <a:avLst/>
          </a:prstGeom>
          <a:noFill/>
          <a:ln/>
        </p:spPr>
        <p:txBody>
          <a:bodyPr wrap="square" lIns="0" tIns="0" rIns="0" bIns="0" rtlCol="0" anchor="ctr"/>
          <a:lstStyle/>
          <a:p>
            <a:pPr marL="0" indent="0" algn="r">
              <a:buNone/>
            </a:pPr>
            <a:r>
              <a:rPr lang="en-US" sz="1000" dirty="0">
                <a:solidFill>
                  <a:srgbClr val="5B6B85"/>
                </a:solidFill>
                <a:latin typeface="Calibri" pitchFamily="34" charset="0"/>
                <a:ea typeface="Calibri" pitchFamily="34" charset="-122"/>
                <a:cs typeface="Calibri" pitchFamily="34" charset="-120"/>
              </a:rPr>
              <a:t>Real-Time E-commerce Analytics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0">
    <p:bg>
      <p:bgPr>
        <a:solidFill>
          <a:srgbClr val="1B2A4A"/>
        </a:solidFill>
        <a:effectLst/>
      </p:bgPr>
    </p:bg>
    <p:spTree>
      <p:nvGrpSpPr>
        <p:cNvPr id="1" name=""/>
        <p:cNvGrpSpPr/>
        <p:nvPr/>
      </p:nvGrpSpPr>
      <p:grpSpPr>
        <a:xfrm>
          <a:off x="0" y="0"/>
          <a:ext cx="0" cy="0"/>
          <a:chOff x="0" y="0"/>
          <a:chExt cx="0" cy="0"/>
        </a:xfrm>
      </p:grpSpPr>
      <p:sp>
        <p:nvSpPr>
          <p:cNvPr id="3" name="Text 1"/>
          <p:cNvSpPr/>
          <p:nvPr/>
        </p:nvSpPr>
        <p:spPr>
          <a:xfrm>
            <a:off x="822960" y="1280160"/>
            <a:ext cx="10241280" cy="1463040"/>
          </a:xfrm>
          <a:prstGeom prst="rect">
            <a:avLst/>
          </a:prstGeom>
          <a:noFill/>
          <a:ln/>
        </p:spPr>
        <p:txBody>
          <a:bodyPr wrap="square" lIns="0" tIns="0" rIns="0" bIns="0" rtlCol="0" anchor="ctr"/>
          <a:lstStyle/>
          <a:p>
            <a:pPr marL="0" indent="0">
              <a:lnSpc>
                <a:spcPct val="120000"/>
              </a:lnSpc>
              <a:buNone/>
            </a:pPr>
            <a:endParaRPr lang="en-US" sz="2600" dirty="0"/>
          </a:p>
        </p:txBody>
      </p:sp>
      <p:sp>
        <p:nvSpPr>
          <p:cNvPr id="6" name="TextBox 5">
            <a:extLst>
              <a:ext uri="{FF2B5EF4-FFF2-40B4-BE49-F238E27FC236}">
                <a16:creationId xmlns:a16="http://schemas.microsoft.com/office/drawing/2014/main" id="{95B87312-056A-35B6-C373-8AD19E9FC726}"/>
              </a:ext>
            </a:extLst>
          </p:cNvPr>
          <p:cNvSpPr txBox="1"/>
          <p:nvPr/>
        </p:nvSpPr>
        <p:spPr>
          <a:xfrm>
            <a:off x="4231707" y="2875002"/>
            <a:ext cx="3728585" cy="1107996"/>
          </a:xfrm>
          <a:prstGeom prst="rect">
            <a:avLst/>
          </a:prstGeom>
          <a:solidFill>
            <a:schemeClr val="bg1">
              <a:lumMod val="95000"/>
            </a:schemeClr>
          </a:solidFill>
        </p:spPr>
        <p:txBody>
          <a:bodyPr wrap="none" rtlCol="0">
            <a:spAutoFit/>
          </a:bodyPr>
          <a:lstStyle/>
          <a:p>
            <a:r>
              <a:rPr lang="en-US" sz="6600" dirty="0"/>
              <a:t>Thank you</a:t>
            </a:r>
            <a:endParaRPr lang="en-IN" sz="6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TotalTime>
  <Words>846</Words>
  <Application>Microsoft Office PowerPoint</Application>
  <PresentationFormat>Widescreen</PresentationFormat>
  <Paragraphs>86</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Sri charan reddy</cp:lastModifiedBy>
  <cp:revision>3</cp:revision>
  <dcterms:created xsi:type="dcterms:W3CDTF">2026-08-08T05:44:58Z</dcterms:created>
  <dcterms:modified xsi:type="dcterms:W3CDTF">2026-09-17T17:21:38Z</dcterms:modified>
</cp:coreProperties>
</file>
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0972800" cy="502920"/>
          </a:xfrm>
          <a:prstGeom prst="rect">
            <a:avLst/>
          </a:prstGeom>
          <a:noFill/>
        </p:spPr>
        <p:txBody>
          <a:bodyPr wrap="none">
            <a:spAutoFit/>
          </a:bodyPr>
          <a:lstStyle/>
          <a:p>
            <a:pPr>
              <a:defRPr sz="2600" b="1">
                <a:solidFill>
                  <a:srgbClr val="192B46"/>
                </a:solidFill>
              </a:defRPr>
            </a:pPr>
            <a:r>
              <a:t>RESTAURANT DATA ENGINEERING ANALYTICS PLATFORM</a:t>
            </a:r>
          </a:p>
        </p:txBody>
      </p:sp>
      <p:sp>
        <p:nvSpPr>
          <p:cNvPr id="4" name="TextBox 3"/>
          <p:cNvSpPr txBox="1"/>
          <p:nvPr/>
        </p:nvSpPr>
        <p:spPr>
          <a:xfrm>
            <a:off x="731520" y="1828800"/>
            <a:ext cx="10789920" cy="1371600"/>
          </a:xfrm>
          <a:prstGeom prst="rect">
            <a:avLst/>
          </a:prstGeom>
          <a:noFill/>
        </p:spPr>
        <p:txBody>
          <a:bodyPr wrap="none">
            <a:spAutoFit/>
          </a:bodyPr>
          <a:lstStyle/>
          <a:p>
            <a:pPr algn="ctr">
              <a:defRPr sz="3400" b="1">
                <a:solidFill>
                  <a:srgbClr val="2D69AA"/>
                </a:solidFill>
              </a:defRPr>
            </a:pPr>
            <a:r>
              <a:t>REVIEW 3</a:t>
            </a:r>
          </a:p>
          <a:p>
            <a:pPr algn="ctr">
              <a:defRPr sz="1800">
                <a:solidFill>
                  <a:srgbClr val="5A6470"/>
                </a:solidFill>
              </a:defRPr>
            </a:pPr>
            <a:r>
              <a:t>Methodology, System Design, Architecture, Modern Technologies &amp; Implementation</a:t>
            </a:r>
          </a:p>
        </p:txBody>
      </p:sp>
      <p:sp>
        <p:nvSpPr>
          <p:cNvPr id="5" name="TextBox 4"/>
          <p:cNvSpPr txBox="1"/>
          <p:nvPr/>
        </p:nvSpPr>
        <p:spPr>
          <a:xfrm>
            <a:off x="685800" y="3474720"/>
            <a:ext cx="10881360" cy="774571"/>
          </a:xfrm>
          <a:prstGeom prst="rect">
            <a:avLst/>
          </a:prstGeom>
          <a:noFill/>
        </p:spPr>
        <p:txBody>
          <a:bodyPr wrap="square">
            <a:spAutoFit/>
          </a:bodyPr>
          <a:lstStyle/>
          <a:p>
            <a:pPr>
              <a:spcAft>
                <a:spcPts val="1000"/>
              </a:spcAft>
              <a:defRPr sz="1800">
                <a:solidFill>
                  <a:srgbClr val="232A32"/>
                </a:solidFill>
              </a:defRPr>
            </a:pPr>
            <a:r>
              <a:rPr dirty="0"/>
              <a:t>Fundamentals of Data Engineering (24DEA3101)</a:t>
            </a:r>
          </a:p>
          <a:p>
            <a:pPr>
              <a:spcAft>
                <a:spcPts val="1000"/>
              </a:spcAft>
              <a:defRPr sz="1800">
                <a:solidFill>
                  <a:srgbClr val="232A32"/>
                </a:solidFill>
              </a:defRPr>
            </a:pPr>
            <a:r>
              <a:rPr lang="en-US" dirty="0"/>
              <a:t>Guided by Associate professor </a:t>
            </a:r>
            <a:r>
              <a:rPr lang="en-US" dirty="0" err="1"/>
              <a:t>Dr.N.Shirisha</a:t>
            </a:r>
            <a:endParaRPr lang="en-US" dirty="0"/>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761" y="1196531"/>
            <a:ext cx="10823350" cy="492443"/>
          </a:xfrm>
          <a:prstGeom prst="rect">
            <a:avLst/>
          </a:prstGeom>
          <a:noFill/>
        </p:spPr>
        <p:txBody>
          <a:bodyPr wrap="square">
            <a:spAutoFit/>
          </a:bodyPr>
          <a:lstStyle/>
          <a:p>
            <a:pPr>
              <a:defRPr sz="2600" b="1">
                <a:solidFill>
                  <a:srgbClr val="192B46"/>
                </a:solidFill>
              </a:defRPr>
            </a:pPr>
            <a:r>
              <a:rPr dirty="0"/>
              <a:t>Methodology, System Design, and Architecture</a:t>
            </a:r>
          </a:p>
        </p:txBody>
      </p:sp>
      <p:sp>
        <p:nvSpPr>
          <p:cNvPr id="5" name="TextBox 4"/>
          <p:cNvSpPr txBox="1"/>
          <p:nvPr/>
        </p:nvSpPr>
        <p:spPr>
          <a:xfrm>
            <a:off x="698090" y="2389238"/>
            <a:ext cx="10343536" cy="2308324"/>
          </a:xfrm>
          <a:prstGeom prst="rect">
            <a:avLst/>
          </a:prstGeom>
          <a:noFill/>
        </p:spPr>
        <p:txBody>
          <a:bodyPr wrap="square">
            <a:spAutoFit/>
          </a:bodyPr>
          <a:lstStyle/>
          <a:p>
            <a:r>
              <a:rPr lang="en-IN" dirty="0"/>
              <a:t>The proposed methodology follows an </a:t>
            </a:r>
            <a:r>
              <a:rPr lang="en-IN" b="1" dirty="0"/>
              <a:t>end-to-end data engineering pipeline</a:t>
            </a:r>
            <a:r>
              <a:rPr lang="en-IN" dirty="0"/>
              <a:t> for collecting, processing, and </a:t>
            </a:r>
            <a:r>
              <a:rPr lang="en-IN" dirty="0" err="1"/>
              <a:t>analyzing</a:t>
            </a:r>
            <a:r>
              <a:rPr lang="en-IN" dirty="0"/>
              <a:t> restaurant data. The system collects data such as customer orders, menu details, payments, reservations, and delivery records from multiple sources. The collected data is extracted and cleaned by handling missing, duplicate, and inconsistent records. </a:t>
            </a:r>
            <a:r>
              <a:rPr lang="en-IN" b="1" dirty="0"/>
              <a:t>Apache Kafka</a:t>
            </a:r>
            <a:r>
              <a:rPr lang="en-IN" dirty="0"/>
              <a:t> is used for real-time data ingestion, while </a:t>
            </a:r>
            <a:r>
              <a:rPr lang="en-IN" b="1" dirty="0"/>
              <a:t>Apache Spark</a:t>
            </a:r>
            <a:r>
              <a:rPr lang="en-IN" dirty="0"/>
              <a:t> performs scalable data processing, transformation, and aggregation. The processed data is stored in </a:t>
            </a:r>
            <a:r>
              <a:rPr lang="en-IN" b="1" dirty="0"/>
              <a:t>PostgreSQL</a:t>
            </a:r>
            <a:r>
              <a:rPr lang="en-IN" dirty="0"/>
              <a:t> as a centralized database, and </a:t>
            </a:r>
            <a:r>
              <a:rPr lang="en-IN" b="1" dirty="0"/>
              <a:t>Apache Airflow</a:t>
            </a:r>
            <a:r>
              <a:rPr lang="en-IN" dirty="0"/>
              <a:t> is used to automate and monitor the ETL workflow. Finally, </a:t>
            </a:r>
            <a:r>
              <a:rPr lang="en-IN" b="1" dirty="0"/>
              <a:t>Power BI</a:t>
            </a:r>
            <a:r>
              <a:rPr lang="en-IN" dirty="0"/>
              <a:t> presents the processed information through interactive dashboards, helping identify revenue trends, popular dishes, peak hours, customer patterns, and operational performance.</a:t>
            </a:r>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0972800" cy="502920"/>
          </a:xfrm>
          <a:prstGeom prst="rect">
            <a:avLst/>
          </a:prstGeom>
          <a:noFill/>
        </p:spPr>
        <p:txBody>
          <a:bodyPr wrap="none">
            <a:spAutoFit/>
          </a:bodyPr>
          <a:lstStyle/>
          <a:p>
            <a:pPr>
              <a:defRPr sz="2600" b="1">
                <a:solidFill>
                  <a:srgbClr val="192B46"/>
                </a:solidFill>
              </a:defRPr>
            </a:pPr>
            <a:r>
              <a:t>Methodology, System Design, and Architecture</a:t>
            </a:r>
          </a:p>
        </p:txBody>
      </p:sp>
      <p:sp>
        <p:nvSpPr>
          <p:cNvPr id="5" name="Rounded Rectangle 4"/>
          <p:cNvSpPr/>
          <p:nvPr/>
        </p:nvSpPr>
        <p:spPr>
          <a:xfrm>
            <a:off x="914400" y="1325880"/>
            <a:ext cx="10332720" cy="749808"/>
          </a:xfrm>
          <a:prstGeom prst="roundRect">
            <a:avLst/>
          </a:prstGeom>
          <a:solidFill>
            <a:srgbClr val="FFFFFF"/>
          </a:solidFill>
          <a:ln w="25400">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D69AA"/>
                </a:solidFill>
              </a:defRPr>
            </a:pPr>
            <a:r>
              <a:t>DATA SOURCES</a:t>
            </a:r>
          </a:p>
          <a:p>
            <a:pPr algn="ctr">
              <a:defRPr sz="1100">
                <a:solidFill>
                  <a:srgbClr val="232A32"/>
                </a:solidFill>
              </a:defRPr>
            </a:pPr>
            <a:r>
              <a:t>Orders • Menu • Customers • Payments • Reservations • Delivery</a:t>
            </a:r>
          </a:p>
        </p:txBody>
      </p:sp>
      <p:sp>
        <p:nvSpPr>
          <p:cNvPr id="6" name="Rounded Rectangle 5"/>
          <p:cNvSpPr/>
          <p:nvPr/>
        </p:nvSpPr>
        <p:spPr>
          <a:xfrm>
            <a:off x="914400" y="2258568"/>
            <a:ext cx="10332720" cy="749808"/>
          </a:xfrm>
          <a:prstGeom prst="roundRect">
            <a:avLst/>
          </a:prstGeom>
          <a:solidFill>
            <a:srgbClr val="FFFFFF"/>
          </a:solidFill>
          <a:ln w="2540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D27D2D"/>
                </a:solidFill>
              </a:defRPr>
            </a:pPr>
            <a:r>
              <a:t>INGESTION</a:t>
            </a:r>
          </a:p>
          <a:p>
            <a:pPr algn="ctr">
              <a:defRPr sz="1100">
                <a:solidFill>
                  <a:srgbClr val="232A32"/>
                </a:solidFill>
              </a:defRPr>
            </a:pPr>
            <a:r>
              <a:t>Python / Pandas + Apache Kafka</a:t>
            </a:r>
          </a:p>
        </p:txBody>
      </p:sp>
      <p:sp>
        <p:nvSpPr>
          <p:cNvPr id="7" name="Rounded Rectangle 6"/>
          <p:cNvSpPr/>
          <p:nvPr/>
        </p:nvSpPr>
        <p:spPr>
          <a:xfrm>
            <a:off x="914400" y="3191256"/>
            <a:ext cx="10332720" cy="749808"/>
          </a:xfrm>
          <a:prstGeom prst="roundRect">
            <a:avLst/>
          </a:prstGeom>
          <a:solidFill>
            <a:srgbClr val="FFFFFF"/>
          </a:solidFill>
          <a:ln w="25400">
            <a:solidFill>
              <a:srgbClr val="2F7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F7D55"/>
                </a:solidFill>
              </a:defRPr>
            </a:pPr>
            <a:r>
              <a:t>PROCESSING</a:t>
            </a:r>
          </a:p>
          <a:p>
            <a:pPr algn="ctr">
              <a:defRPr sz="1100">
                <a:solidFill>
                  <a:srgbClr val="232A32"/>
                </a:solidFill>
              </a:defRPr>
            </a:pPr>
            <a:r>
              <a:t>Apache Spark • Cleaning • Transformation • Aggregation</a:t>
            </a:r>
          </a:p>
        </p:txBody>
      </p:sp>
      <p:sp>
        <p:nvSpPr>
          <p:cNvPr id="8" name="Rounded Rectangle 7"/>
          <p:cNvSpPr/>
          <p:nvPr/>
        </p:nvSpPr>
        <p:spPr>
          <a:xfrm>
            <a:off x="914400" y="4123944"/>
            <a:ext cx="10332720" cy="749808"/>
          </a:xfrm>
          <a:prstGeom prst="roundRect">
            <a:avLst/>
          </a:prstGeom>
          <a:solidFill>
            <a:srgbClr val="FFFFFF"/>
          </a:solidFill>
          <a:ln w="25400">
            <a:solidFill>
              <a:srgbClr val="2D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D69AA"/>
                </a:solidFill>
              </a:defRPr>
            </a:pPr>
            <a:r>
              <a:t>STORAGE &amp; AUTOMATION</a:t>
            </a:r>
          </a:p>
          <a:p>
            <a:pPr algn="ctr">
              <a:defRPr sz="1100">
                <a:solidFill>
                  <a:srgbClr val="232A32"/>
                </a:solidFill>
              </a:defRPr>
            </a:pPr>
            <a:r>
              <a:t>PostgreSQL + Apache Airflow</a:t>
            </a:r>
          </a:p>
        </p:txBody>
      </p:sp>
      <p:sp>
        <p:nvSpPr>
          <p:cNvPr id="9" name="Rounded Rectangle 8"/>
          <p:cNvSpPr/>
          <p:nvPr/>
        </p:nvSpPr>
        <p:spPr>
          <a:xfrm>
            <a:off x="914400" y="5056631"/>
            <a:ext cx="10332720" cy="749808"/>
          </a:xfrm>
          <a:prstGeom prst="roundRect">
            <a:avLst/>
          </a:prstGeom>
          <a:solidFill>
            <a:srgbClr val="FFFFFF"/>
          </a:solidFill>
          <a:ln w="25400">
            <a:solidFill>
              <a:srgbClr val="D27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D27D2D"/>
                </a:solidFill>
              </a:defRPr>
            </a:pPr>
            <a:r>
              <a:t>ANALYTICS &amp; VISUALIZATION</a:t>
            </a:r>
          </a:p>
          <a:p>
            <a:pPr algn="ctr">
              <a:defRPr sz="1100">
                <a:solidFill>
                  <a:srgbClr val="232A32"/>
                </a:solidFill>
              </a:defRPr>
            </a:pPr>
            <a:r>
              <a:t>SQL Analytics + Power BI</a:t>
            </a:r>
          </a:p>
        </p:txBody>
      </p:sp>
      <p:sp>
        <p:nvSpPr>
          <p:cNvPr id="10" name="TextBox 9"/>
          <p:cNvSpPr txBox="1"/>
          <p:nvPr/>
        </p:nvSpPr>
        <p:spPr>
          <a:xfrm>
            <a:off x="1828800" y="5989320"/>
            <a:ext cx="8686800" cy="274320"/>
          </a:xfrm>
          <a:prstGeom prst="rect">
            <a:avLst/>
          </a:prstGeom>
          <a:noFill/>
        </p:spPr>
        <p:txBody>
          <a:bodyPr wrap="none">
            <a:spAutoFit/>
          </a:bodyPr>
          <a:lstStyle/>
          <a:p>
            <a:pPr algn="ctr">
              <a:defRPr sz="1400" b="1">
                <a:solidFill>
                  <a:srgbClr val="192B46"/>
                </a:solidFill>
              </a:defRPr>
            </a:pPr>
            <a:r>
              <a:t>Collect → Stream → Process → Store → Analyze → Visualize</a:t>
            </a:r>
          </a:p>
        </p:txBody>
      </p:sp>
      <p:sp>
        <p:nvSpPr>
          <p:cNvPr id="11" name="TextBox 10"/>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5117" y="850982"/>
            <a:ext cx="10972800" cy="502920"/>
          </a:xfrm>
          <a:prstGeom prst="rect">
            <a:avLst/>
          </a:prstGeom>
          <a:noFill/>
        </p:spPr>
        <p:txBody>
          <a:bodyPr wrap="none">
            <a:spAutoFit/>
          </a:bodyPr>
          <a:lstStyle/>
          <a:p>
            <a:pPr>
              <a:defRPr sz="2600" b="1">
                <a:solidFill>
                  <a:srgbClr val="192B46"/>
                </a:solidFill>
              </a:defRPr>
            </a:pPr>
            <a:r>
              <a:rPr dirty="0"/>
              <a:t>Use of Modern Tools and Technologies</a:t>
            </a:r>
          </a:p>
        </p:txBody>
      </p:sp>
      <p:sp>
        <p:nvSpPr>
          <p:cNvPr id="5" name="TextBox 4"/>
          <p:cNvSpPr txBox="1"/>
          <p:nvPr/>
        </p:nvSpPr>
        <p:spPr>
          <a:xfrm>
            <a:off x="731520" y="1972253"/>
            <a:ext cx="10881360" cy="4846320"/>
          </a:xfrm>
          <a:prstGeom prst="rect">
            <a:avLst/>
          </a:prstGeom>
          <a:noFill/>
        </p:spPr>
        <p:txBody>
          <a:bodyPr wrap="square">
            <a:spAutoFit/>
          </a:bodyPr>
          <a:lstStyle/>
          <a:p>
            <a:pPr>
              <a:spcAft>
                <a:spcPts val="1000"/>
              </a:spcAft>
              <a:defRPr sz="1600">
                <a:solidFill>
                  <a:srgbClr val="232A32"/>
                </a:solidFill>
              </a:defRPr>
            </a:pPr>
            <a:r>
              <a:rPr dirty="0"/>
              <a:t>• Python: Core language for data collection, cleaning, transformation, and ETL logic.</a:t>
            </a:r>
          </a:p>
          <a:p>
            <a:pPr>
              <a:spcAft>
                <a:spcPts val="1000"/>
              </a:spcAft>
              <a:defRPr sz="1600">
                <a:solidFill>
                  <a:srgbClr val="232A32"/>
                </a:solidFill>
              </a:defRPr>
            </a:pPr>
            <a:r>
              <a:rPr dirty="0"/>
              <a:t>• Pandas: </a:t>
            </a:r>
            <a:r>
              <a:rPr dirty="0" err="1"/>
              <a:t>DataFrame</a:t>
            </a:r>
            <a:r>
              <a:rPr dirty="0"/>
              <a:t>-based manipulation, missing-value handling, duplicate removal, date conversion, and feature preparation.</a:t>
            </a:r>
          </a:p>
          <a:p>
            <a:pPr>
              <a:spcAft>
                <a:spcPts val="1000"/>
              </a:spcAft>
              <a:defRPr sz="1600">
                <a:solidFill>
                  <a:srgbClr val="232A32"/>
                </a:solidFill>
              </a:defRPr>
            </a:pPr>
            <a:r>
              <a:rPr dirty="0"/>
              <a:t>• Apache Kafka: Real-time event streaming and scalable data ingestion.</a:t>
            </a:r>
          </a:p>
          <a:p>
            <a:pPr>
              <a:spcAft>
                <a:spcPts val="1000"/>
              </a:spcAft>
              <a:defRPr sz="1600">
                <a:solidFill>
                  <a:srgbClr val="232A32"/>
                </a:solidFill>
              </a:defRPr>
            </a:pPr>
            <a:r>
              <a:rPr dirty="0"/>
              <a:t>• Apache Spark: Distributed processing for large-scale cleaning, transformation, aggregation, and analytics.</a:t>
            </a:r>
          </a:p>
          <a:p>
            <a:pPr>
              <a:spcAft>
                <a:spcPts val="1000"/>
              </a:spcAft>
              <a:defRPr sz="1600">
                <a:solidFill>
                  <a:srgbClr val="232A32"/>
                </a:solidFill>
              </a:defRPr>
            </a:pPr>
            <a:r>
              <a:rPr dirty="0"/>
              <a:t>• PostgreSQL: Centralized relational storage for processed restaurant data.</a:t>
            </a:r>
          </a:p>
          <a:p>
            <a:pPr>
              <a:spcAft>
                <a:spcPts val="1000"/>
              </a:spcAft>
              <a:defRPr sz="1600">
                <a:solidFill>
                  <a:srgbClr val="232A32"/>
                </a:solidFill>
              </a:defRPr>
            </a:pPr>
            <a:r>
              <a:rPr dirty="0"/>
              <a:t>• Apache Airflow: Automates, schedules, and monitors ETL workflows.</a:t>
            </a:r>
          </a:p>
          <a:p>
            <a:pPr>
              <a:spcAft>
                <a:spcPts val="1000"/>
              </a:spcAft>
              <a:defRPr sz="1600">
                <a:solidFill>
                  <a:srgbClr val="232A32"/>
                </a:solidFill>
              </a:defRPr>
            </a:pPr>
            <a:r>
              <a:rPr dirty="0"/>
              <a:t>• Power BI: Interactive dashboards for revenue, orders, popular dishes, peak hours, and operational KPIs.</a:t>
            </a:r>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46349"/>
            <a:ext cx="10972800" cy="502920"/>
          </a:xfrm>
          <a:prstGeom prst="rect">
            <a:avLst/>
          </a:prstGeom>
          <a:noFill/>
        </p:spPr>
        <p:txBody>
          <a:bodyPr wrap="none">
            <a:spAutoFit/>
          </a:bodyPr>
          <a:lstStyle/>
          <a:p>
            <a:pPr>
              <a:defRPr sz="2600" b="1">
                <a:solidFill>
                  <a:srgbClr val="192B46"/>
                </a:solidFill>
              </a:defRPr>
            </a:pPr>
            <a:r>
              <a:rPr dirty="0"/>
              <a:t>Use of Modern Tools and Technologies</a:t>
            </a:r>
          </a:p>
        </p:txBody>
      </p:sp>
      <p:sp>
        <p:nvSpPr>
          <p:cNvPr id="5" name="TextBox 4"/>
          <p:cNvSpPr txBox="1"/>
          <p:nvPr/>
        </p:nvSpPr>
        <p:spPr>
          <a:xfrm>
            <a:off x="640080" y="2259945"/>
            <a:ext cx="10881360" cy="4846320"/>
          </a:xfrm>
          <a:prstGeom prst="rect">
            <a:avLst/>
          </a:prstGeom>
          <a:noFill/>
        </p:spPr>
        <p:txBody>
          <a:bodyPr wrap="square">
            <a:spAutoFit/>
          </a:bodyPr>
          <a:lstStyle/>
          <a:p>
            <a:pPr>
              <a:spcAft>
                <a:spcPts val="1000"/>
              </a:spcAft>
              <a:defRPr sz="1800">
                <a:solidFill>
                  <a:srgbClr val="232A32"/>
                </a:solidFill>
              </a:defRPr>
            </a:pPr>
            <a:r>
              <a:rPr dirty="0"/>
              <a:t>• Kafka Scalability: Increasing event volume can be handled by distributing messages across partitions and consumers.</a:t>
            </a:r>
          </a:p>
          <a:p>
            <a:pPr>
              <a:spcAft>
                <a:spcPts val="1000"/>
              </a:spcAft>
              <a:defRPr sz="1800">
                <a:solidFill>
                  <a:srgbClr val="232A32"/>
                </a:solidFill>
              </a:defRPr>
            </a:pPr>
            <a:r>
              <a:rPr dirty="0"/>
              <a:t>• Spark Scalability: Processing is distributed across multiple workers, allowing larger restaurant datasets to be processed efficiently.</a:t>
            </a:r>
          </a:p>
          <a:p>
            <a:pPr>
              <a:spcAft>
                <a:spcPts val="1000"/>
              </a:spcAft>
              <a:defRPr sz="1800">
                <a:solidFill>
                  <a:srgbClr val="232A32"/>
                </a:solidFill>
              </a:defRPr>
            </a:pPr>
            <a:r>
              <a:rPr dirty="0"/>
              <a:t>• Pipeline Modularity: Ingestion, processing, storage, and analytics are separated into reusable stages.</a:t>
            </a:r>
          </a:p>
          <a:p>
            <a:pPr>
              <a:spcAft>
                <a:spcPts val="1000"/>
              </a:spcAft>
              <a:defRPr sz="1800">
                <a:solidFill>
                  <a:srgbClr val="232A32"/>
                </a:solidFill>
              </a:defRPr>
            </a:pPr>
            <a:r>
              <a:rPr dirty="0"/>
              <a:t>• Multi-Restaurant Support: A </a:t>
            </a:r>
            <a:r>
              <a:rPr dirty="0" err="1"/>
              <a:t>restaurant_id</a:t>
            </a:r>
            <a:r>
              <a:rPr dirty="0"/>
              <a:t>-based data model allows the same platform to support multiple restaurants and growing order volumes.</a:t>
            </a:r>
          </a:p>
          <a:p>
            <a:pPr>
              <a:spcAft>
                <a:spcPts val="1000"/>
              </a:spcAft>
              <a:defRPr sz="1800">
                <a:solidFill>
                  <a:srgbClr val="232A32"/>
                </a:solidFill>
              </a:defRPr>
            </a:pPr>
            <a:r>
              <a:rPr dirty="0"/>
              <a:t>• Automated Workflows: Airflow schedules and monitors pipeline tasks as the system grows.</a:t>
            </a:r>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015623"/>
            <a:ext cx="10972800" cy="502920"/>
          </a:xfrm>
          <a:prstGeom prst="rect">
            <a:avLst/>
          </a:prstGeom>
          <a:noFill/>
        </p:spPr>
        <p:txBody>
          <a:bodyPr wrap="none">
            <a:spAutoFit/>
          </a:bodyPr>
          <a:lstStyle/>
          <a:p>
            <a:pPr>
              <a:defRPr sz="2600" b="1">
                <a:solidFill>
                  <a:srgbClr val="192B46"/>
                </a:solidFill>
              </a:defRPr>
            </a:pPr>
            <a:r>
              <a:rPr dirty="0"/>
              <a:t>Implementation, Coding Quality, and Functionality</a:t>
            </a:r>
          </a:p>
        </p:txBody>
      </p:sp>
      <p:sp>
        <p:nvSpPr>
          <p:cNvPr id="5" name="TextBox 4"/>
          <p:cNvSpPr txBox="1"/>
          <p:nvPr/>
        </p:nvSpPr>
        <p:spPr>
          <a:xfrm>
            <a:off x="548640" y="2369574"/>
            <a:ext cx="11018520" cy="2303195"/>
          </a:xfrm>
          <a:prstGeom prst="rect">
            <a:avLst/>
          </a:prstGeom>
          <a:noFill/>
        </p:spPr>
        <p:txBody>
          <a:bodyPr wrap="square">
            <a:spAutoFit/>
          </a:bodyPr>
          <a:lstStyle/>
          <a:p>
            <a:pPr>
              <a:spcAft>
                <a:spcPts val="1000"/>
              </a:spcAft>
              <a:defRPr sz="1700">
                <a:solidFill>
                  <a:srgbClr val="232A32"/>
                </a:solidFill>
              </a:defRPr>
            </a:pPr>
            <a:r>
              <a:rPr dirty="0"/>
              <a:t>• Data Collection Module: Collects orders, menu, customer, payment, reservation, and delivery records.</a:t>
            </a:r>
          </a:p>
          <a:p>
            <a:pPr>
              <a:spcAft>
                <a:spcPts val="1000"/>
              </a:spcAft>
              <a:defRPr sz="1700">
                <a:solidFill>
                  <a:srgbClr val="232A32"/>
                </a:solidFill>
              </a:defRPr>
            </a:pPr>
            <a:r>
              <a:rPr dirty="0"/>
              <a:t>• Cleaning Module: Handles missing values, duplicate records, invalid entries, and inconsistent formats.</a:t>
            </a:r>
          </a:p>
          <a:p>
            <a:pPr>
              <a:spcAft>
                <a:spcPts val="1000"/>
              </a:spcAft>
              <a:defRPr sz="1700">
                <a:solidFill>
                  <a:srgbClr val="232A32"/>
                </a:solidFill>
              </a:defRPr>
            </a:pPr>
            <a:r>
              <a:rPr dirty="0"/>
              <a:t>• Transformation Module: Creates derived fields such as revenue and aggregates sales by dish, day, hour, and restaurant.</a:t>
            </a:r>
          </a:p>
          <a:p>
            <a:pPr>
              <a:spcAft>
                <a:spcPts val="1000"/>
              </a:spcAft>
              <a:defRPr sz="1700">
                <a:solidFill>
                  <a:srgbClr val="232A32"/>
                </a:solidFill>
              </a:defRPr>
            </a:pPr>
            <a:r>
              <a:rPr dirty="0"/>
              <a:t>• Streaming Module: Publishes real-time restaurant events through Kafka.</a:t>
            </a:r>
          </a:p>
          <a:p>
            <a:pPr>
              <a:spcAft>
                <a:spcPts val="1000"/>
              </a:spcAft>
              <a:defRPr sz="1700">
                <a:solidFill>
                  <a:srgbClr val="232A32"/>
                </a:solidFill>
              </a:defRPr>
            </a:pPr>
            <a:r>
              <a:rPr dirty="0"/>
              <a:t>• Processing Module: Uses Spark for scalable transformations and aggregations.</a:t>
            </a:r>
          </a:p>
          <a:p>
            <a:pPr>
              <a:spcAft>
                <a:spcPts val="1000"/>
              </a:spcAft>
              <a:defRPr sz="1700">
                <a:solidFill>
                  <a:srgbClr val="232A32"/>
                </a:solidFill>
              </a:defRPr>
            </a:pPr>
            <a:r>
              <a:rPr dirty="0"/>
              <a:t>• Storage Module: Loads processed data into PostgreSQL.</a:t>
            </a:r>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0972800" cy="502920"/>
          </a:xfrm>
          <a:prstGeom prst="rect">
            <a:avLst/>
          </a:prstGeom>
          <a:noFill/>
        </p:spPr>
        <p:txBody>
          <a:bodyPr wrap="none">
            <a:spAutoFit/>
          </a:bodyPr>
          <a:lstStyle/>
          <a:p>
            <a:pPr>
              <a:defRPr sz="2600" b="1">
                <a:solidFill>
                  <a:srgbClr val="192B46"/>
                </a:solidFill>
              </a:defRPr>
            </a:pPr>
            <a:r>
              <a:t>Implementation, Coding Quality, and Functionality</a:t>
            </a:r>
          </a:p>
        </p:txBody>
      </p:sp>
      <p:sp>
        <p:nvSpPr>
          <p:cNvPr id="4" name="TextBox 3"/>
          <p:cNvSpPr txBox="1"/>
          <p:nvPr/>
        </p:nvSpPr>
        <p:spPr>
          <a:xfrm>
            <a:off x="566928" y="896112"/>
            <a:ext cx="10972800" cy="365760"/>
          </a:xfrm>
          <a:prstGeom prst="rect">
            <a:avLst/>
          </a:prstGeom>
          <a:noFill/>
        </p:spPr>
        <p:txBody>
          <a:bodyPr wrap="none">
            <a:spAutoFit/>
          </a:bodyPr>
          <a:lstStyle/>
          <a:p>
            <a:pPr>
              <a:defRPr sz="1400">
                <a:solidFill>
                  <a:srgbClr val="5A6470"/>
                </a:solidFill>
              </a:defRPr>
            </a:pPr>
            <a:r>
              <a:t>Core Functionality, Validation, and Outcomes</a:t>
            </a:r>
          </a:p>
        </p:txBody>
      </p:sp>
      <p:sp>
        <p:nvSpPr>
          <p:cNvPr id="5" name="TextBox 4"/>
          <p:cNvSpPr txBox="1"/>
          <p:nvPr/>
        </p:nvSpPr>
        <p:spPr>
          <a:xfrm>
            <a:off x="685800" y="1325880"/>
            <a:ext cx="10881360" cy="4846320"/>
          </a:xfrm>
          <a:prstGeom prst="rect">
            <a:avLst/>
          </a:prstGeom>
          <a:noFill/>
        </p:spPr>
        <p:txBody>
          <a:bodyPr wrap="square">
            <a:spAutoFit/>
          </a:bodyPr>
          <a:lstStyle/>
          <a:p>
            <a:pPr>
              <a:spcAft>
                <a:spcPts val="1000"/>
              </a:spcAft>
              <a:defRPr sz="1800">
                <a:solidFill>
                  <a:srgbClr val="232A32"/>
                </a:solidFill>
              </a:defRPr>
            </a:pPr>
            <a:r>
              <a:t>• Core Functionality: Transforms raw restaurant data into organized datasets and business KPIs.</a:t>
            </a:r>
          </a:p>
          <a:p>
            <a:pPr>
              <a:spcAft>
                <a:spcPts val="1000"/>
              </a:spcAft>
              <a:defRPr sz="1800">
                <a:solidFill>
                  <a:srgbClr val="232A32"/>
                </a:solidFill>
              </a:defRPr>
            </a:pPr>
            <a:r>
              <a:t>• Analytics Delivered: Revenue and sales trends, average order value, popular dishes, peak hours, customer trends, table utilization, and delivery performance.</a:t>
            </a:r>
          </a:p>
          <a:p>
            <a:pPr>
              <a:spcAft>
                <a:spcPts val="1000"/>
              </a:spcAft>
              <a:defRPr sz="1800">
                <a:solidFill>
                  <a:srgbClr val="232A32"/>
                </a:solidFill>
              </a:defRPr>
            </a:pPr>
            <a:r>
              <a:t>• Validation and Testing: Check sample records, data-quality rules, SQL results, and dashboard values.</a:t>
            </a:r>
          </a:p>
          <a:p>
            <a:pPr>
              <a:spcAft>
                <a:spcPts val="1000"/>
              </a:spcAft>
              <a:defRPr sz="1800">
                <a:solidFill>
                  <a:srgbClr val="232A32"/>
                </a:solidFill>
              </a:defRPr>
            </a:pPr>
            <a:r>
              <a:t>• Business Outcome: Provides centralized, regularly updated restaurant insights for data-driven operational decisions.</a:t>
            </a:r>
          </a:p>
        </p:txBody>
      </p:sp>
      <p:sp>
        <p:nvSpPr>
          <p:cNvPr id="6" name="TextBox 5"/>
          <p:cNvSpPr txBox="1"/>
          <p:nvPr/>
        </p:nvSpPr>
        <p:spPr>
          <a:xfrm>
            <a:off x="11430000" y="6446520"/>
            <a:ext cx="365760" cy="182880"/>
          </a:xfrm>
          <a:prstGeom prst="rect">
            <a:avLst/>
          </a:prstGeom>
          <a:noFill/>
        </p:spPr>
        <p:txBody>
          <a:bodyPr wrap="none">
            <a:spAutoFit/>
          </a:bodyPr>
          <a:lstStyle/>
          <a:p>
            <a:pPr>
              <a:defRPr sz="900">
                <a:solidFill>
                  <a:srgbClr val="5A6470"/>
                </a:solidFill>
              </a:defRPr>
            </a:pPr>
            <a: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655</TotalTime>
  <Words>656</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 charan reddy</cp:lastModifiedBy>
  <cp:revision>4</cp:revision>
  <dcterms:created xsi:type="dcterms:W3CDTF">2013-01-27T09:14:16Z</dcterms:created>
  <dcterms:modified xsi:type="dcterms:W3CDTF">2026-10-07T03:58:30Z</dcterms:modified>
  <cp:category/>
</cp:coreProperties>
</file>